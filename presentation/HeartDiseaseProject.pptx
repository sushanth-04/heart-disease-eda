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82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67" r:id="rId32"/>
    <p:sldId id="269" r:id="rId33"/>
    <p:sldId id="270" r:id="rId34"/>
    <p:sldId id="259" r:id="rId35"/>
  </p:sldIdLst>
  <p:sldSz cx="12192000" cy="6858000"/>
  <p:notesSz cx="6858000" cy="9144000"/>
  <p:embeddedFontLst>
    <p:embeddedFont>
      <p:font typeface="Aptos Narrow" panose="020B0004020202020204" pitchFamily="34" charset="0"/>
      <p:regular r:id="rId37"/>
      <p:bold r:id="rId38"/>
      <p:italic r:id="rId39"/>
      <p:boldItalic r:id="rId40"/>
    </p:embeddedFont>
    <p:embeddedFont>
      <p:font typeface="Daytona Condensed Light" panose="020B0306030503040204" pitchFamily="34" charset="0"/>
      <p:regular r:id="rId41"/>
    </p:embeddedFont>
    <p:embeddedFont>
      <p:font typeface="Lato Black" panose="020F0502020204030203" pitchFamily="34" charset="0"/>
      <p:bold r:id="rId42"/>
      <p:boldItalic r:id="rId43"/>
    </p:embeddedFont>
    <p:embeddedFont>
      <p:font typeface="Libre Baskerville" panose="02000000000000000000" pitchFamily="2" charset="0"/>
      <p:regular r:id="rId44"/>
      <p:bold r:id="rId45"/>
      <p:italic r:id="rId46"/>
    </p:embeddedFont>
    <p:embeddedFont>
      <p:font typeface="Posterama" panose="020B0504020200020000" pitchFamily="3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F420AA-3682-4E15-95BE-C3F799694B10}" type="doc">
      <dgm:prSet loTypeId="urn:microsoft.com/office/officeart/2011/layout/Tab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9CFDED2A-F2A0-4952-AA9F-F9C52AA3AD76}">
      <dgm:prSet phldrT="[Text]" phldr="0"/>
      <dgm:spPr/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1</a:t>
          </a:r>
        </a:p>
      </dgm:t>
    </dgm:pt>
    <dgm:pt modelId="{20D3250F-E788-4AA0-A0C8-55977490192E}" type="parTrans" cxnId="{38F650CD-DD60-4455-B22C-D69AEAF7FA6E}">
      <dgm:prSet/>
      <dgm:spPr/>
      <dgm:t>
        <a:bodyPr/>
        <a:lstStyle/>
        <a:p>
          <a:endParaRPr lang="en-IN"/>
        </a:p>
      </dgm:t>
    </dgm:pt>
    <dgm:pt modelId="{D9B3737F-1D47-4EA9-BF37-5DCDB78A441B}" type="sibTrans" cxnId="{38F650CD-DD60-4455-B22C-D69AEAF7FA6E}">
      <dgm:prSet/>
      <dgm:spPr/>
      <dgm:t>
        <a:bodyPr/>
        <a:lstStyle/>
        <a:p>
          <a:endParaRPr lang="en-IN"/>
        </a:p>
      </dgm:t>
    </dgm:pt>
    <dgm:pt modelId="{497B6FE6-471F-411A-BA0E-D866BE1E4BD5}">
      <dgm:prSet phldrT="[Text]"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Heart disease risk increases significantly with age — 75+ group shows highest burden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E2208E1A-B8B2-473A-8CEC-60C81212465D}" type="parTrans" cxnId="{4A257EA7-CB91-4F36-8B20-B011089DE6AF}">
      <dgm:prSet/>
      <dgm:spPr/>
      <dgm:t>
        <a:bodyPr/>
        <a:lstStyle/>
        <a:p>
          <a:endParaRPr lang="en-IN"/>
        </a:p>
      </dgm:t>
    </dgm:pt>
    <dgm:pt modelId="{2108EAC6-9414-434F-BACF-D8DE3147F949}" type="sibTrans" cxnId="{4A257EA7-CB91-4F36-8B20-B011089DE6AF}">
      <dgm:prSet/>
      <dgm:spPr/>
      <dgm:t>
        <a:bodyPr/>
        <a:lstStyle/>
        <a:p>
          <a:endParaRPr lang="en-IN"/>
        </a:p>
      </dgm:t>
    </dgm:pt>
    <dgm:pt modelId="{7AA049FB-6FB8-4644-A979-35C069D233F5}">
      <dgm:prSet phldrT="[Text]" phldr="0"/>
      <dgm:spPr>
        <a:ln>
          <a:solidFill>
            <a:schemeClr val="accent1"/>
          </a:solidFill>
        </a:ln>
      </dgm:spPr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2</a:t>
          </a:r>
        </a:p>
      </dgm:t>
    </dgm:pt>
    <dgm:pt modelId="{7EF63D08-797B-4274-93A9-310095631300}" type="parTrans" cxnId="{D9A9E0F1-FDE9-4D3C-AEA0-AEC7BA333BD5}">
      <dgm:prSet/>
      <dgm:spPr/>
      <dgm:t>
        <a:bodyPr/>
        <a:lstStyle/>
        <a:p>
          <a:endParaRPr lang="en-IN"/>
        </a:p>
      </dgm:t>
    </dgm:pt>
    <dgm:pt modelId="{AA03BE33-8C12-466D-B2A8-C07C039141AD}" type="sibTrans" cxnId="{D9A9E0F1-FDE9-4D3C-AEA0-AEC7BA333BD5}">
      <dgm:prSet/>
      <dgm:spPr/>
      <dgm:t>
        <a:bodyPr/>
        <a:lstStyle/>
        <a:p>
          <a:endParaRPr lang="en-IN"/>
        </a:p>
      </dgm:t>
    </dgm:pt>
    <dgm:pt modelId="{4810E53E-F95F-4241-B96F-4287F94DBA16}">
      <dgm:prSet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Male population has ~24% higher cardiovascular disease rates than females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961B5713-E951-49F6-B9A1-07EBF357A086}" type="parTrans" cxnId="{3FC1808E-EA75-437A-AE1C-B0D881337489}">
      <dgm:prSet/>
      <dgm:spPr/>
      <dgm:t>
        <a:bodyPr/>
        <a:lstStyle/>
        <a:p>
          <a:endParaRPr lang="en-IN"/>
        </a:p>
      </dgm:t>
    </dgm:pt>
    <dgm:pt modelId="{794B7AB2-25B6-401E-B682-1BADA298954D}" type="sibTrans" cxnId="{3FC1808E-EA75-437A-AE1C-B0D881337489}">
      <dgm:prSet/>
      <dgm:spPr/>
      <dgm:t>
        <a:bodyPr/>
        <a:lstStyle/>
        <a:p>
          <a:endParaRPr lang="en-IN"/>
        </a:p>
      </dgm:t>
    </dgm:pt>
    <dgm:pt modelId="{884DA8EF-3ACF-4A7D-84C2-36A1C2EE6C48}">
      <dgm:prSet phldrT="[Text]" phldr="0"/>
      <dgm:spPr/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3</a:t>
          </a:r>
        </a:p>
      </dgm:t>
    </dgm:pt>
    <dgm:pt modelId="{838B409C-D73C-4AC6-A9DF-6C28884D0078}" type="parTrans" cxnId="{F940FED2-6EEF-4825-B07D-F8A91C32DB76}">
      <dgm:prSet/>
      <dgm:spPr/>
      <dgm:t>
        <a:bodyPr/>
        <a:lstStyle/>
        <a:p>
          <a:endParaRPr lang="en-IN"/>
        </a:p>
      </dgm:t>
    </dgm:pt>
    <dgm:pt modelId="{289D0C6E-BE25-46D6-9E28-895BC0FDF5E5}" type="sibTrans" cxnId="{F940FED2-6EEF-4825-B07D-F8A91C32DB76}">
      <dgm:prSet/>
      <dgm:spPr/>
      <dgm:t>
        <a:bodyPr/>
        <a:lstStyle/>
        <a:p>
          <a:endParaRPr lang="en-IN"/>
        </a:p>
      </dgm:t>
    </dgm:pt>
    <dgm:pt modelId="{6AB45028-82A4-49A6-AC11-3971B47AC5FC}">
      <dgm:prSet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Non-Hispanic Black population has the highest disease burden (18.71) — significant racial health disparity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A7C0162A-302D-4253-AA02-0D31182A0827}" type="parTrans" cxnId="{7277D527-6257-4F4C-ACC8-37CED09C94A9}">
      <dgm:prSet/>
      <dgm:spPr/>
      <dgm:t>
        <a:bodyPr/>
        <a:lstStyle/>
        <a:p>
          <a:endParaRPr lang="en-IN"/>
        </a:p>
      </dgm:t>
    </dgm:pt>
    <dgm:pt modelId="{E6ECB94C-7878-40BB-952F-D679108BB48E}" type="sibTrans" cxnId="{7277D527-6257-4F4C-ACC8-37CED09C94A9}">
      <dgm:prSet/>
      <dgm:spPr/>
      <dgm:t>
        <a:bodyPr/>
        <a:lstStyle/>
        <a:p>
          <a:endParaRPr lang="en-IN"/>
        </a:p>
      </dgm:t>
    </dgm:pt>
    <dgm:pt modelId="{E3D21C6F-4192-4894-8545-78D900ED56E2}">
      <dgm:prSet phldrT="[Text]" phldr="0"/>
      <dgm:spPr>
        <a:ln>
          <a:solidFill>
            <a:schemeClr val="accent1"/>
          </a:solidFill>
        </a:ln>
      </dgm:spPr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4</a:t>
          </a:r>
        </a:p>
      </dgm:t>
    </dgm:pt>
    <dgm:pt modelId="{9393FA41-BF40-4339-A425-42490B326EB1}" type="parTrans" cxnId="{9F431F6C-16A4-48F8-B5F9-67EC39B0CCD8}">
      <dgm:prSet/>
      <dgm:spPr/>
      <dgm:t>
        <a:bodyPr/>
        <a:lstStyle/>
        <a:p>
          <a:endParaRPr lang="en-IN"/>
        </a:p>
      </dgm:t>
    </dgm:pt>
    <dgm:pt modelId="{9DCD418E-5B28-40DA-8D33-E45DA86B415B}" type="sibTrans" cxnId="{9F431F6C-16A4-48F8-B5F9-67EC39B0CCD8}">
      <dgm:prSet/>
      <dgm:spPr/>
      <dgm:t>
        <a:bodyPr/>
        <a:lstStyle/>
        <a:p>
          <a:endParaRPr lang="en-IN"/>
        </a:p>
      </dgm:t>
    </dgm:pt>
    <dgm:pt modelId="{FD3FBE4C-9843-4D38-BF12-5531970972E0}">
      <dgm:prSet phldrT="[Text]" phldr="0"/>
      <dgm:spPr/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5</a:t>
          </a:r>
        </a:p>
      </dgm:t>
    </dgm:pt>
    <dgm:pt modelId="{EFCD906A-6642-4BA2-B19A-4C1BE2FFA41D}" type="parTrans" cxnId="{00A098AC-B11C-45EF-B9DB-C20B11F4418B}">
      <dgm:prSet/>
      <dgm:spPr/>
      <dgm:t>
        <a:bodyPr/>
        <a:lstStyle/>
        <a:p>
          <a:endParaRPr lang="en-IN"/>
        </a:p>
      </dgm:t>
    </dgm:pt>
    <dgm:pt modelId="{6BC5F574-82BF-4827-9FB6-E49975EDC56E}" type="sibTrans" cxnId="{00A098AC-B11C-45EF-B9DB-C20B11F4418B}">
      <dgm:prSet/>
      <dgm:spPr/>
      <dgm:t>
        <a:bodyPr/>
        <a:lstStyle/>
        <a:p>
          <a:endParaRPr lang="en-IN"/>
        </a:p>
      </dgm:t>
    </dgm:pt>
    <dgm:pt modelId="{94EF2504-76EE-4FE8-85EC-EF0471B4B16E}">
      <dgm:prSet custT="1"/>
      <dgm:spPr/>
      <dgm:t>
        <a:bodyPr/>
        <a:lstStyle/>
        <a:p>
          <a:r>
            <a:rPr lang="en-US" sz="1500" dirty="0">
              <a:latin typeface="Aptos Narrow" panose="020B0004020202020204" pitchFamily="34" charset="0"/>
              <a:cs typeface="Posterama" panose="020B0504020200020000" pitchFamily="34" charset="0"/>
            </a:rPr>
            <a:t>Overall heart disease rates declined from ~17 in 2004 to ~13.5 in 2013Some disease types improved faster than others — Stroke shows more stability than CVD</a:t>
          </a:r>
          <a:endParaRPr lang="en-IN" sz="15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7456C67D-7CD2-40C9-AC10-6C6353E65C03}" type="parTrans" cxnId="{3F9D180F-DE67-4534-912E-F259E0C04647}">
      <dgm:prSet/>
      <dgm:spPr/>
      <dgm:t>
        <a:bodyPr/>
        <a:lstStyle/>
        <a:p>
          <a:endParaRPr lang="en-IN"/>
        </a:p>
      </dgm:t>
    </dgm:pt>
    <dgm:pt modelId="{A20D8D9F-843B-487E-A7BC-BE36B9A72C4A}" type="sibTrans" cxnId="{3F9D180F-DE67-4534-912E-F259E0C04647}">
      <dgm:prSet/>
      <dgm:spPr/>
      <dgm:t>
        <a:bodyPr/>
        <a:lstStyle/>
        <a:p>
          <a:endParaRPr lang="en-IN"/>
        </a:p>
      </dgm:t>
    </dgm:pt>
    <dgm:pt modelId="{7CC60103-E82A-4830-84CD-ACC00595D565}">
      <dgm:prSet phldrT="[Text]" phldr="0"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Heart failure (19.43) and Major CVD (23.84) are the most severe disease categories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A635F5C8-22AA-4FED-9174-97C9A34C02C2}" type="parTrans" cxnId="{029CE713-E96D-455A-90E1-DFD73CC909D5}">
      <dgm:prSet/>
      <dgm:spPr/>
      <dgm:t>
        <a:bodyPr/>
        <a:lstStyle/>
        <a:p>
          <a:endParaRPr lang="en-IN"/>
        </a:p>
      </dgm:t>
    </dgm:pt>
    <dgm:pt modelId="{A1636834-A0A0-46E8-B6D7-5E67822D1A49}" type="sibTrans" cxnId="{029CE713-E96D-455A-90E1-DFD73CC909D5}">
      <dgm:prSet/>
      <dgm:spPr/>
      <dgm:t>
        <a:bodyPr/>
        <a:lstStyle/>
        <a:p>
          <a:endParaRPr lang="en-IN"/>
        </a:p>
      </dgm:t>
    </dgm:pt>
    <dgm:pt modelId="{C90A40EB-A795-43F2-9485-586B4CBFD804}" type="pres">
      <dgm:prSet presAssocID="{CDF420AA-3682-4E15-95BE-C3F799694B1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ACEF2F78-1714-4528-9CDD-3C2B469E8F6A}" type="pres">
      <dgm:prSet presAssocID="{9CFDED2A-F2A0-4952-AA9F-F9C52AA3AD76}" presName="composite" presStyleCnt="0"/>
      <dgm:spPr/>
    </dgm:pt>
    <dgm:pt modelId="{9627AF13-E5C8-4A8A-B61D-8085709FFB41}" type="pres">
      <dgm:prSet presAssocID="{9CFDED2A-F2A0-4952-AA9F-F9C52AA3AD76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48F62A4-0EF0-4071-A8F3-06FFE878FBAD}" type="pres">
      <dgm:prSet presAssocID="{9CFDED2A-F2A0-4952-AA9F-F9C52AA3AD76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B7E848AB-D691-43D6-9B71-4185ACAEE520}" type="pres">
      <dgm:prSet presAssocID="{9CFDED2A-F2A0-4952-AA9F-F9C52AA3AD76}" presName="Accent" presStyleLbl="parChTrans1D1" presStyleIdx="0" presStyleCnt="5"/>
      <dgm:spPr/>
    </dgm:pt>
    <dgm:pt modelId="{57FE911C-92B3-49B8-81F6-DACAFF80A0F6}" type="pres">
      <dgm:prSet presAssocID="{D9B3737F-1D47-4EA9-BF37-5DCDB78A441B}" presName="sibTrans" presStyleCnt="0"/>
      <dgm:spPr/>
    </dgm:pt>
    <dgm:pt modelId="{679E6C95-A92E-49A4-A3DF-664D858408D7}" type="pres">
      <dgm:prSet presAssocID="{7AA049FB-6FB8-4644-A979-35C069D233F5}" presName="composite" presStyleCnt="0"/>
      <dgm:spPr/>
    </dgm:pt>
    <dgm:pt modelId="{5498950F-6BEA-44D4-B483-E7243D2C2572}" type="pres">
      <dgm:prSet presAssocID="{7AA049FB-6FB8-4644-A979-35C069D233F5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3E795BC1-E95F-4698-BA42-208C5211D3A1}" type="pres">
      <dgm:prSet presAssocID="{7AA049FB-6FB8-4644-A979-35C069D233F5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FEF75242-6D7E-4F6D-8AC3-AEF2D06CE606}" type="pres">
      <dgm:prSet presAssocID="{7AA049FB-6FB8-4644-A979-35C069D233F5}" presName="Accent" presStyleLbl="parChTrans1D1" presStyleIdx="1" presStyleCnt="5"/>
      <dgm:spPr/>
    </dgm:pt>
    <dgm:pt modelId="{F2577F8C-42B9-4A08-9CF8-CC2DF19B1B8A}" type="pres">
      <dgm:prSet presAssocID="{AA03BE33-8C12-466D-B2A8-C07C039141AD}" presName="sibTrans" presStyleCnt="0"/>
      <dgm:spPr/>
    </dgm:pt>
    <dgm:pt modelId="{B310DB12-38C6-4F21-B29D-932E3B84AFC5}" type="pres">
      <dgm:prSet presAssocID="{884DA8EF-3ACF-4A7D-84C2-36A1C2EE6C48}" presName="composite" presStyleCnt="0"/>
      <dgm:spPr/>
    </dgm:pt>
    <dgm:pt modelId="{7327320D-1EE7-45AD-80CD-E9AC16C8136C}" type="pres">
      <dgm:prSet presAssocID="{884DA8EF-3ACF-4A7D-84C2-36A1C2EE6C48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6A81026B-DBAC-433F-9574-1BFF2174C568}" type="pres">
      <dgm:prSet presAssocID="{884DA8EF-3ACF-4A7D-84C2-36A1C2EE6C48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ADC5E689-3D9E-469B-AD6E-DEAF4D186C01}" type="pres">
      <dgm:prSet presAssocID="{884DA8EF-3ACF-4A7D-84C2-36A1C2EE6C48}" presName="Accent" presStyleLbl="parChTrans1D1" presStyleIdx="2" presStyleCnt="5"/>
      <dgm:spPr/>
    </dgm:pt>
    <dgm:pt modelId="{5DB01177-0214-490D-BB8E-347D6ECC386A}" type="pres">
      <dgm:prSet presAssocID="{289D0C6E-BE25-46D6-9E28-895BC0FDF5E5}" presName="sibTrans" presStyleCnt="0"/>
      <dgm:spPr/>
    </dgm:pt>
    <dgm:pt modelId="{71B58640-3A6C-4A44-B8A9-FCD73D5391C4}" type="pres">
      <dgm:prSet presAssocID="{E3D21C6F-4192-4894-8545-78D900ED56E2}" presName="composite" presStyleCnt="0"/>
      <dgm:spPr/>
    </dgm:pt>
    <dgm:pt modelId="{FEF909C0-E124-403F-9F79-432AEFF35BF5}" type="pres">
      <dgm:prSet presAssocID="{E3D21C6F-4192-4894-8545-78D900ED56E2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E3D3A109-082D-4596-B50D-4D8E52666F00}" type="pres">
      <dgm:prSet presAssocID="{E3D21C6F-4192-4894-8545-78D900ED56E2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89DF1DB3-C81F-47B2-8C40-2CAAE47DBAD6}" type="pres">
      <dgm:prSet presAssocID="{E3D21C6F-4192-4894-8545-78D900ED56E2}" presName="Accent" presStyleLbl="parChTrans1D1" presStyleIdx="3" presStyleCnt="5"/>
      <dgm:spPr/>
    </dgm:pt>
    <dgm:pt modelId="{DA590147-F21C-4E62-8CAB-6A3A4B319BD1}" type="pres">
      <dgm:prSet presAssocID="{9DCD418E-5B28-40DA-8D33-E45DA86B415B}" presName="sibTrans" presStyleCnt="0"/>
      <dgm:spPr/>
    </dgm:pt>
    <dgm:pt modelId="{26749344-B9C0-4234-B2B1-53948F9A1593}" type="pres">
      <dgm:prSet presAssocID="{FD3FBE4C-9843-4D38-BF12-5531970972E0}" presName="composite" presStyleCnt="0"/>
      <dgm:spPr/>
    </dgm:pt>
    <dgm:pt modelId="{E285BF38-62BE-4A5A-A008-A94931978152}" type="pres">
      <dgm:prSet presAssocID="{FD3FBE4C-9843-4D38-BF12-5531970972E0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B8E6E505-550D-4032-9629-9FC76F009283}" type="pres">
      <dgm:prSet presAssocID="{FD3FBE4C-9843-4D38-BF12-5531970972E0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F34CDE5C-051B-424A-AB23-4A35920E75A0}" type="pres">
      <dgm:prSet presAssocID="{FD3FBE4C-9843-4D38-BF12-5531970972E0}" presName="Accent" presStyleLbl="parChTrans1D1" presStyleIdx="4" presStyleCnt="5"/>
      <dgm:spPr/>
    </dgm:pt>
  </dgm:ptLst>
  <dgm:cxnLst>
    <dgm:cxn modelId="{A763D001-5121-4B19-AE4F-9C4E81567344}" type="presOf" srcId="{4810E53E-F95F-4241-B96F-4287F94DBA16}" destId="{5498950F-6BEA-44D4-B483-E7243D2C2572}" srcOrd="0" destOrd="0" presId="urn:microsoft.com/office/officeart/2011/layout/TabList"/>
    <dgm:cxn modelId="{3F9D180F-DE67-4534-912E-F259E0C04647}" srcId="{FD3FBE4C-9843-4D38-BF12-5531970972E0}" destId="{94EF2504-76EE-4FE8-85EC-EF0471B4B16E}" srcOrd="0" destOrd="0" parTransId="{7456C67D-7CD2-40C9-AC10-6C6353E65C03}" sibTransId="{A20D8D9F-843B-487E-A7BC-BE36B9A72C4A}"/>
    <dgm:cxn modelId="{FCCBE312-7BC9-4C52-8F80-DC42818F61DD}" type="presOf" srcId="{94EF2504-76EE-4FE8-85EC-EF0471B4B16E}" destId="{E285BF38-62BE-4A5A-A008-A94931978152}" srcOrd="0" destOrd="0" presId="urn:microsoft.com/office/officeart/2011/layout/TabList"/>
    <dgm:cxn modelId="{029CE713-E96D-455A-90E1-DFD73CC909D5}" srcId="{E3D21C6F-4192-4894-8545-78D900ED56E2}" destId="{7CC60103-E82A-4830-84CD-ACC00595D565}" srcOrd="0" destOrd="0" parTransId="{A635F5C8-22AA-4FED-9174-97C9A34C02C2}" sibTransId="{A1636834-A0A0-46E8-B6D7-5E67822D1A49}"/>
    <dgm:cxn modelId="{947A7926-E8F9-45AF-8100-E685B77AD85F}" type="presOf" srcId="{CDF420AA-3682-4E15-95BE-C3F799694B10}" destId="{C90A40EB-A795-43F2-9485-586B4CBFD804}" srcOrd="0" destOrd="0" presId="urn:microsoft.com/office/officeart/2011/layout/TabList"/>
    <dgm:cxn modelId="{7277D527-6257-4F4C-ACC8-37CED09C94A9}" srcId="{884DA8EF-3ACF-4A7D-84C2-36A1C2EE6C48}" destId="{6AB45028-82A4-49A6-AC11-3971B47AC5FC}" srcOrd="0" destOrd="0" parTransId="{A7C0162A-302D-4253-AA02-0D31182A0827}" sibTransId="{E6ECB94C-7878-40BB-952F-D679108BB48E}"/>
    <dgm:cxn modelId="{C304B368-030C-4080-A5CC-A6CB67845E94}" type="presOf" srcId="{6AB45028-82A4-49A6-AC11-3971B47AC5FC}" destId="{7327320D-1EE7-45AD-80CD-E9AC16C8136C}" srcOrd="0" destOrd="0" presId="urn:microsoft.com/office/officeart/2011/layout/TabList"/>
    <dgm:cxn modelId="{9F431F6C-16A4-48F8-B5F9-67EC39B0CCD8}" srcId="{CDF420AA-3682-4E15-95BE-C3F799694B10}" destId="{E3D21C6F-4192-4894-8545-78D900ED56E2}" srcOrd="3" destOrd="0" parTransId="{9393FA41-BF40-4339-A425-42490B326EB1}" sibTransId="{9DCD418E-5B28-40DA-8D33-E45DA86B415B}"/>
    <dgm:cxn modelId="{72200F79-1140-4AA5-B7B7-A0E0C818FBE4}" type="presOf" srcId="{FD3FBE4C-9843-4D38-BF12-5531970972E0}" destId="{B8E6E505-550D-4032-9629-9FC76F009283}" srcOrd="0" destOrd="0" presId="urn:microsoft.com/office/officeart/2011/layout/TabList"/>
    <dgm:cxn modelId="{7437037A-35F3-4A5B-87B1-51AD6E1D6BC9}" type="presOf" srcId="{7CC60103-E82A-4830-84CD-ACC00595D565}" destId="{FEF909C0-E124-403F-9F79-432AEFF35BF5}" srcOrd="0" destOrd="0" presId="urn:microsoft.com/office/officeart/2011/layout/TabList"/>
    <dgm:cxn modelId="{3FC1808E-EA75-437A-AE1C-B0D881337489}" srcId="{7AA049FB-6FB8-4644-A979-35C069D233F5}" destId="{4810E53E-F95F-4241-B96F-4287F94DBA16}" srcOrd="0" destOrd="0" parTransId="{961B5713-E951-49F6-B9A1-07EBF357A086}" sibTransId="{794B7AB2-25B6-401E-B682-1BADA298954D}"/>
    <dgm:cxn modelId="{439857A5-0304-4E14-9F84-CD744BA0C7CE}" type="presOf" srcId="{7AA049FB-6FB8-4644-A979-35C069D233F5}" destId="{3E795BC1-E95F-4698-BA42-208C5211D3A1}" srcOrd="0" destOrd="0" presId="urn:microsoft.com/office/officeart/2011/layout/TabList"/>
    <dgm:cxn modelId="{4A257EA7-CB91-4F36-8B20-B011089DE6AF}" srcId="{9CFDED2A-F2A0-4952-AA9F-F9C52AA3AD76}" destId="{497B6FE6-471F-411A-BA0E-D866BE1E4BD5}" srcOrd="0" destOrd="0" parTransId="{E2208E1A-B8B2-473A-8CEC-60C81212465D}" sibTransId="{2108EAC6-9414-434F-BACF-D8DE3147F949}"/>
    <dgm:cxn modelId="{7CA206AB-E738-43D1-AE89-93D2AFE53006}" type="presOf" srcId="{884DA8EF-3ACF-4A7D-84C2-36A1C2EE6C48}" destId="{6A81026B-DBAC-433F-9574-1BFF2174C568}" srcOrd="0" destOrd="0" presId="urn:microsoft.com/office/officeart/2011/layout/TabList"/>
    <dgm:cxn modelId="{00A098AC-B11C-45EF-B9DB-C20B11F4418B}" srcId="{CDF420AA-3682-4E15-95BE-C3F799694B10}" destId="{FD3FBE4C-9843-4D38-BF12-5531970972E0}" srcOrd="4" destOrd="0" parTransId="{EFCD906A-6642-4BA2-B19A-4C1BE2FFA41D}" sibTransId="{6BC5F574-82BF-4827-9FB6-E49975EDC56E}"/>
    <dgm:cxn modelId="{38F650CD-DD60-4455-B22C-D69AEAF7FA6E}" srcId="{CDF420AA-3682-4E15-95BE-C3F799694B10}" destId="{9CFDED2A-F2A0-4952-AA9F-F9C52AA3AD76}" srcOrd="0" destOrd="0" parTransId="{20D3250F-E788-4AA0-A0C8-55977490192E}" sibTransId="{D9B3737F-1D47-4EA9-BF37-5DCDB78A441B}"/>
    <dgm:cxn modelId="{95A5CACF-5AE6-486A-A496-002F0F64A570}" type="presOf" srcId="{E3D21C6F-4192-4894-8545-78D900ED56E2}" destId="{E3D3A109-082D-4596-B50D-4D8E52666F00}" srcOrd="0" destOrd="0" presId="urn:microsoft.com/office/officeart/2011/layout/TabList"/>
    <dgm:cxn modelId="{F940FED2-6EEF-4825-B07D-F8A91C32DB76}" srcId="{CDF420AA-3682-4E15-95BE-C3F799694B10}" destId="{884DA8EF-3ACF-4A7D-84C2-36A1C2EE6C48}" srcOrd="2" destOrd="0" parTransId="{838B409C-D73C-4AC6-A9DF-6C28884D0078}" sibTransId="{289D0C6E-BE25-46D6-9E28-895BC0FDF5E5}"/>
    <dgm:cxn modelId="{D9A9E0F1-FDE9-4D3C-AEA0-AEC7BA333BD5}" srcId="{CDF420AA-3682-4E15-95BE-C3F799694B10}" destId="{7AA049FB-6FB8-4644-A979-35C069D233F5}" srcOrd="1" destOrd="0" parTransId="{7EF63D08-797B-4274-93A9-310095631300}" sibTransId="{AA03BE33-8C12-466D-B2A8-C07C039141AD}"/>
    <dgm:cxn modelId="{A8CFC1F7-47E2-47E5-9FB7-120E41D2205C}" type="presOf" srcId="{9CFDED2A-F2A0-4952-AA9F-F9C52AA3AD76}" destId="{448F62A4-0EF0-4071-A8F3-06FFE878FBAD}" srcOrd="0" destOrd="0" presId="urn:microsoft.com/office/officeart/2011/layout/TabList"/>
    <dgm:cxn modelId="{A6265BF8-1AA4-4501-A0B9-256696FBD5D8}" type="presOf" srcId="{497B6FE6-471F-411A-BA0E-D866BE1E4BD5}" destId="{9627AF13-E5C8-4A8A-B61D-8085709FFB41}" srcOrd="0" destOrd="0" presId="urn:microsoft.com/office/officeart/2011/layout/TabList"/>
    <dgm:cxn modelId="{E36C0250-4919-4E00-A384-CD4D023763FB}" type="presParOf" srcId="{C90A40EB-A795-43F2-9485-586B4CBFD804}" destId="{ACEF2F78-1714-4528-9CDD-3C2B469E8F6A}" srcOrd="0" destOrd="0" presId="urn:microsoft.com/office/officeart/2011/layout/TabList"/>
    <dgm:cxn modelId="{DE616C84-EC6A-42ED-96B4-9D5E4EB97EDD}" type="presParOf" srcId="{ACEF2F78-1714-4528-9CDD-3C2B469E8F6A}" destId="{9627AF13-E5C8-4A8A-B61D-8085709FFB41}" srcOrd="0" destOrd="0" presId="urn:microsoft.com/office/officeart/2011/layout/TabList"/>
    <dgm:cxn modelId="{9484B61D-4A67-4F0E-A1E0-6037D29DC02C}" type="presParOf" srcId="{ACEF2F78-1714-4528-9CDD-3C2B469E8F6A}" destId="{448F62A4-0EF0-4071-A8F3-06FFE878FBAD}" srcOrd="1" destOrd="0" presId="urn:microsoft.com/office/officeart/2011/layout/TabList"/>
    <dgm:cxn modelId="{D192C9F1-E5FF-4033-8F5D-A9815FB94A31}" type="presParOf" srcId="{ACEF2F78-1714-4528-9CDD-3C2B469E8F6A}" destId="{B7E848AB-D691-43D6-9B71-4185ACAEE520}" srcOrd="2" destOrd="0" presId="urn:microsoft.com/office/officeart/2011/layout/TabList"/>
    <dgm:cxn modelId="{6765AAF9-6AC1-43F5-A84B-B8F4FE73BCF2}" type="presParOf" srcId="{C90A40EB-A795-43F2-9485-586B4CBFD804}" destId="{57FE911C-92B3-49B8-81F6-DACAFF80A0F6}" srcOrd="1" destOrd="0" presId="urn:microsoft.com/office/officeart/2011/layout/TabList"/>
    <dgm:cxn modelId="{6CF1098C-4293-4989-B278-1B04FEAA7663}" type="presParOf" srcId="{C90A40EB-A795-43F2-9485-586B4CBFD804}" destId="{679E6C95-A92E-49A4-A3DF-664D858408D7}" srcOrd="2" destOrd="0" presId="urn:microsoft.com/office/officeart/2011/layout/TabList"/>
    <dgm:cxn modelId="{0A45C7AC-DE2C-4D2C-A4C7-A17E59C0DD40}" type="presParOf" srcId="{679E6C95-A92E-49A4-A3DF-664D858408D7}" destId="{5498950F-6BEA-44D4-B483-E7243D2C2572}" srcOrd="0" destOrd="0" presId="urn:microsoft.com/office/officeart/2011/layout/TabList"/>
    <dgm:cxn modelId="{2B8B86A9-F372-43E4-B41E-DA943312C65C}" type="presParOf" srcId="{679E6C95-A92E-49A4-A3DF-664D858408D7}" destId="{3E795BC1-E95F-4698-BA42-208C5211D3A1}" srcOrd="1" destOrd="0" presId="urn:microsoft.com/office/officeart/2011/layout/TabList"/>
    <dgm:cxn modelId="{DE4C7B73-6D9B-483F-A5CD-F112F80562CE}" type="presParOf" srcId="{679E6C95-A92E-49A4-A3DF-664D858408D7}" destId="{FEF75242-6D7E-4F6D-8AC3-AEF2D06CE606}" srcOrd="2" destOrd="0" presId="urn:microsoft.com/office/officeart/2011/layout/TabList"/>
    <dgm:cxn modelId="{672DF103-3793-47D3-9022-CE48AE921EE5}" type="presParOf" srcId="{C90A40EB-A795-43F2-9485-586B4CBFD804}" destId="{F2577F8C-42B9-4A08-9CF8-CC2DF19B1B8A}" srcOrd="3" destOrd="0" presId="urn:microsoft.com/office/officeart/2011/layout/TabList"/>
    <dgm:cxn modelId="{56786190-C0EA-4A1D-9E8D-4B5709370E31}" type="presParOf" srcId="{C90A40EB-A795-43F2-9485-586B4CBFD804}" destId="{B310DB12-38C6-4F21-B29D-932E3B84AFC5}" srcOrd="4" destOrd="0" presId="urn:microsoft.com/office/officeart/2011/layout/TabList"/>
    <dgm:cxn modelId="{C3006471-ABE2-4306-926A-6E7FE2EDBF87}" type="presParOf" srcId="{B310DB12-38C6-4F21-B29D-932E3B84AFC5}" destId="{7327320D-1EE7-45AD-80CD-E9AC16C8136C}" srcOrd="0" destOrd="0" presId="urn:microsoft.com/office/officeart/2011/layout/TabList"/>
    <dgm:cxn modelId="{7986E8D1-998B-4069-85C9-0513C7788F7C}" type="presParOf" srcId="{B310DB12-38C6-4F21-B29D-932E3B84AFC5}" destId="{6A81026B-DBAC-433F-9574-1BFF2174C568}" srcOrd="1" destOrd="0" presId="urn:microsoft.com/office/officeart/2011/layout/TabList"/>
    <dgm:cxn modelId="{D0A67F57-915B-4E79-9764-5AFC33905B30}" type="presParOf" srcId="{B310DB12-38C6-4F21-B29D-932E3B84AFC5}" destId="{ADC5E689-3D9E-469B-AD6E-DEAF4D186C01}" srcOrd="2" destOrd="0" presId="urn:microsoft.com/office/officeart/2011/layout/TabList"/>
    <dgm:cxn modelId="{021B9749-A525-405F-8BAA-4D6A6D5EF19C}" type="presParOf" srcId="{C90A40EB-A795-43F2-9485-586B4CBFD804}" destId="{5DB01177-0214-490D-BB8E-347D6ECC386A}" srcOrd="5" destOrd="0" presId="urn:microsoft.com/office/officeart/2011/layout/TabList"/>
    <dgm:cxn modelId="{A2FBBC32-56CE-48E5-94C8-65F05EA13BDA}" type="presParOf" srcId="{C90A40EB-A795-43F2-9485-586B4CBFD804}" destId="{71B58640-3A6C-4A44-B8A9-FCD73D5391C4}" srcOrd="6" destOrd="0" presId="urn:microsoft.com/office/officeart/2011/layout/TabList"/>
    <dgm:cxn modelId="{D001A79F-2E16-4C7C-A8B9-5F48AA82CFEF}" type="presParOf" srcId="{71B58640-3A6C-4A44-B8A9-FCD73D5391C4}" destId="{FEF909C0-E124-403F-9F79-432AEFF35BF5}" srcOrd="0" destOrd="0" presId="urn:microsoft.com/office/officeart/2011/layout/TabList"/>
    <dgm:cxn modelId="{3BE0BE8B-D4AE-4F22-BCF7-9D02F79A8327}" type="presParOf" srcId="{71B58640-3A6C-4A44-B8A9-FCD73D5391C4}" destId="{E3D3A109-082D-4596-B50D-4D8E52666F00}" srcOrd="1" destOrd="0" presId="urn:microsoft.com/office/officeart/2011/layout/TabList"/>
    <dgm:cxn modelId="{85E6DA0F-08E0-480D-BC69-E5DBC904BF19}" type="presParOf" srcId="{71B58640-3A6C-4A44-B8A9-FCD73D5391C4}" destId="{89DF1DB3-C81F-47B2-8C40-2CAAE47DBAD6}" srcOrd="2" destOrd="0" presId="urn:microsoft.com/office/officeart/2011/layout/TabList"/>
    <dgm:cxn modelId="{805A8B57-54FC-4A01-9629-F0DF72716CA9}" type="presParOf" srcId="{C90A40EB-A795-43F2-9485-586B4CBFD804}" destId="{DA590147-F21C-4E62-8CAB-6A3A4B319BD1}" srcOrd="7" destOrd="0" presId="urn:microsoft.com/office/officeart/2011/layout/TabList"/>
    <dgm:cxn modelId="{CEC4C492-F404-4826-9A15-BECB837E7E5D}" type="presParOf" srcId="{C90A40EB-A795-43F2-9485-586B4CBFD804}" destId="{26749344-B9C0-4234-B2B1-53948F9A1593}" srcOrd="8" destOrd="0" presId="urn:microsoft.com/office/officeart/2011/layout/TabList"/>
    <dgm:cxn modelId="{73A185F1-4A3B-4617-BE5D-A659D70105AD}" type="presParOf" srcId="{26749344-B9C0-4234-B2B1-53948F9A1593}" destId="{E285BF38-62BE-4A5A-A008-A94931978152}" srcOrd="0" destOrd="0" presId="urn:microsoft.com/office/officeart/2011/layout/TabList"/>
    <dgm:cxn modelId="{298E0398-A5EF-4650-A6BB-A1C179A09ECC}" type="presParOf" srcId="{26749344-B9C0-4234-B2B1-53948F9A1593}" destId="{B8E6E505-550D-4032-9629-9FC76F009283}" srcOrd="1" destOrd="0" presId="urn:microsoft.com/office/officeart/2011/layout/TabList"/>
    <dgm:cxn modelId="{E9C8FB9A-1A2A-4195-90CD-80FFD832080D}" type="presParOf" srcId="{26749344-B9C0-4234-B2B1-53948F9A1593}" destId="{F34CDE5C-051B-424A-AB23-4A35920E75A0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F420AA-3682-4E15-95BE-C3F799694B10}" type="doc">
      <dgm:prSet loTypeId="urn:microsoft.com/office/officeart/2011/layout/Tab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9CFDED2A-F2A0-4952-AA9F-F9C52AA3AD76}">
      <dgm:prSet phldrT="[Text]" phldr="0"/>
      <dgm:spPr>
        <a:ln>
          <a:solidFill>
            <a:schemeClr val="accent1"/>
          </a:solidFill>
        </a:ln>
      </dgm:spPr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6</a:t>
          </a:r>
        </a:p>
      </dgm:t>
    </dgm:pt>
    <dgm:pt modelId="{20D3250F-E788-4AA0-A0C8-55977490192E}" type="parTrans" cxnId="{38F650CD-DD60-4455-B22C-D69AEAF7FA6E}">
      <dgm:prSet/>
      <dgm:spPr/>
      <dgm:t>
        <a:bodyPr/>
        <a:lstStyle/>
        <a:p>
          <a:endParaRPr lang="en-IN"/>
        </a:p>
      </dgm:t>
    </dgm:pt>
    <dgm:pt modelId="{D9B3737F-1D47-4EA9-BF37-5DCDB78A441B}" type="sibTrans" cxnId="{38F650CD-DD60-4455-B22C-D69AEAF7FA6E}">
      <dgm:prSet/>
      <dgm:spPr/>
      <dgm:t>
        <a:bodyPr/>
        <a:lstStyle/>
        <a:p>
          <a:endParaRPr lang="en-IN"/>
        </a:p>
      </dgm:t>
    </dgm:pt>
    <dgm:pt modelId="{497B6FE6-471F-411A-BA0E-D866BE1E4BD5}">
      <dgm:prSet phldrT="[Text]"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Outliers retained — they represent real high-risk groups, not errors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E2208E1A-B8B2-473A-8CEC-60C81212465D}" type="parTrans" cxnId="{4A257EA7-CB91-4F36-8B20-B011089DE6AF}">
      <dgm:prSet/>
      <dgm:spPr/>
      <dgm:t>
        <a:bodyPr/>
        <a:lstStyle/>
        <a:p>
          <a:endParaRPr lang="en-IN"/>
        </a:p>
      </dgm:t>
    </dgm:pt>
    <dgm:pt modelId="{2108EAC6-9414-434F-BACF-D8DE3147F949}" type="sibTrans" cxnId="{4A257EA7-CB91-4F36-8B20-B011089DE6AF}">
      <dgm:prSet/>
      <dgm:spPr/>
      <dgm:t>
        <a:bodyPr/>
        <a:lstStyle/>
        <a:p>
          <a:endParaRPr lang="en-IN"/>
        </a:p>
      </dgm:t>
    </dgm:pt>
    <dgm:pt modelId="{7AA049FB-6FB8-4644-A979-35C069D233F5}">
      <dgm:prSet phldrT="[Text]" phldr="0"/>
      <dgm:spPr/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7</a:t>
          </a:r>
        </a:p>
      </dgm:t>
    </dgm:pt>
    <dgm:pt modelId="{7EF63D08-797B-4274-93A9-310095631300}" type="parTrans" cxnId="{D9A9E0F1-FDE9-4D3C-AEA0-AEC7BA333BD5}">
      <dgm:prSet/>
      <dgm:spPr/>
      <dgm:t>
        <a:bodyPr/>
        <a:lstStyle/>
        <a:p>
          <a:endParaRPr lang="en-IN"/>
        </a:p>
      </dgm:t>
    </dgm:pt>
    <dgm:pt modelId="{AA03BE33-8C12-466D-B2A8-C07C039141AD}" type="sibTrans" cxnId="{D9A9E0F1-FDE9-4D3C-AEA0-AEC7BA333BD5}">
      <dgm:prSet/>
      <dgm:spPr/>
      <dgm:t>
        <a:bodyPr/>
        <a:lstStyle/>
        <a:p>
          <a:endParaRPr lang="en-IN"/>
        </a:p>
      </dgm:t>
    </dgm:pt>
    <dgm:pt modelId="{4810E53E-F95F-4241-B96F-4287F94DBA16}">
      <dgm:prSet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Geographic inequality exists — certain U.S. locations have noticeably higher rates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961B5713-E951-49F6-B9A1-07EBF357A086}" type="parTrans" cxnId="{3FC1808E-EA75-437A-AE1C-B0D881337489}">
      <dgm:prSet/>
      <dgm:spPr/>
      <dgm:t>
        <a:bodyPr/>
        <a:lstStyle/>
        <a:p>
          <a:endParaRPr lang="en-IN"/>
        </a:p>
      </dgm:t>
    </dgm:pt>
    <dgm:pt modelId="{794B7AB2-25B6-401E-B682-1BADA298954D}" type="sibTrans" cxnId="{3FC1808E-EA75-437A-AE1C-B0D881337489}">
      <dgm:prSet/>
      <dgm:spPr/>
      <dgm:t>
        <a:bodyPr/>
        <a:lstStyle/>
        <a:p>
          <a:endParaRPr lang="en-IN"/>
        </a:p>
      </dgm:t>
    </dgm:pt>
    <dgm:pt modelId="{884DA8EF-3ACF-4A7D-84C2-36A1C2EE6C48}">
      <dgm:prSet phldrT="[Text]" phldr="0"/>
      <dgm:spPr>
        <a:ln>
          <a:solidFill>
            <a:schemeClr val="accent1"/>
          </a:solidFill>
        </a:ln>
      </dgm:spPr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8</a:t>
          </a:r>
        </a:p>
      </dgm:t>
    </dgm:pt>
    <dgm:pt modelId="{838B409C-D73C-4AC6-A9DF-6C28884D0078}" type="parTrans" cxnId="{F940FED2-6EEF-4825-B07D-F8A91C32DB76}">
      <dgm:prSet/>
      <dgm:spPr/>
      <dgm:t>
        <a:bodyPr/>
        <a:lstStyle/>
        <a:p>
          <a:endParaRPr lang="en-IN"/>
        </a:p>
      </dgm:t>
    </dgm:pt>
    <dgm:pt modelId="{289D0C6E-BE25-46D6-9E28-895BC0FDF5E5}" type="sibTrans" cxnId="{F940FED2-6EEF-4825-B07D-F8A91C32DB76}">
      <dgm:prSet/>
      <dgm:spPr/>
      <dgm:t>
        <a:bodyPr/>
        <a:lstStyle/>
        <a:p>
          <a:endParaRPr lang="en-IN"/>
        </a:p>
      </dgm:t>
    </dgm:pt>
    <dgm:pt modelId="{6AB45028-82A4-49A6-AC11-3971B47AC5FC}">
      <dgm:prSet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Gender disparity in heart disease rates persists consistently across all observed years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A7C0162A-302D-4253-AA02-0D31182A0827}" type="parTrans" cxnId="{7277D527-6257-4F4C-ACC8-37CED09C94A9}">
      <dgm:prSet/>
      <dgm:spPr/>
      <dgm:t>
        <a:bodyPr/>
        <a:lstStyle/>
        <a:p>
          <a:endParaRPr lang="en-IN"/>
        </a:p>
      </dgm:t>
    </dgm:pt>
    <dgm:pt modelId="{E6ECB94C-7878-40BB-952F-D679108BB48E}" type="sibTrans" cxnId="{7277D527-6257-4F4C-ACC8-37CED09C94A9}">
      <dgm:prSet/>
      <dgm:spPr/>
      <dgm:t>
        <a:bodyPr/>
        <a:lstStyle/>
        <a:p>
          <a:endParaRPr lang="en-IN"/>
        </a:p>
      </dgm:t>
    </dgm:pt>
    <dgm:pt modelId="{E3D21C6F-4192-4894-8545-78D900ED56E2}">
      <dgm:prSet phldrT="[Text]" phldr="0"/>
      <dgm:spPr/>
      <dgm:t>
        <a:bodyPr/>
        <a:lstStyle/>
        <a:p>
          <a:r>
            <a:rPr lang="en-IN" dirty="0">
              <a:latin typeface="Aptos Narrow" panose="020B0004020202020204" pitchFamily="34" charset="0"/>
              <a:cs typeface="Posterama" panose="020B0504020200020000" pitchFamily="34" charset="0"/>
            </a:rPr>
            <a:t>9</a:t>
          </a:r>
        </a:p>
      </dgm:t>
    </dgm:pt>
    <dgm:pt modelId="{9393FA41-BF40-4339-A425-42490B326EB1}" type="parTrans" cxnId="{9F431F6C-16A4-48F8-B5F9-67EC39B0CCD8}">
      <dgm:prSet/>
      <dgm:spPr/>
      <dgm:t>
        <a:bodyPr/>
        <a:lstStyle/>
        <a:p>
          <a:endParaRPr lang="en-IN"/>
        </a:p>
      </dgm:t>
    </dgm:pt>
    <dgm:pt modelId="{9DCD418E-5B28-40DA-8D33-E45DA86B415B}" type="sibTrans" cxnId="{9F431F6C-16A4-48F8-B5F9-67EC39B0CCD8}">
      <dgm:prSet/>
      <dgm:spPr/>
      <dgm:t>
        <a:bodyPr/>
        <a:lstStyle/>
        <a:p>
          <a:endParaRPr lang="en-IN"/>
        </a:p>
      </dgm:t>
    </dgm:pt>
    <dgm:pt modelId="{7CC60103-E82A-4830-84CD-ACC00595D565}">
      <dgm:prSet phldrT="[Text]" phldr="0" custT="1"/>
      <dgm:spPr/>
      <dgm:t>
        <a:bodyPr/>
        <a:lstStyle/>
        <a:p>
          <a:r>
            <a:rPr lang="en-US" sz="1800" dirty="0">
              <a:latin typeface="Aptos Narrow" panose="020B0004020202020204" pitchFamily="34" charset="0"/>
              <a:cs typeface="Posterama" panose="020B0504020200020000" pitchFamily="34" charset="0"/>
            </a:rPr>
            <a:t>Public health interventions have measurably reduced cardiovascular disease trends over time</a:t>
          </a:r>
          <a:endParaRPr lang="en-IN" sz="1800" dirty="0">
            <a:latin typeface="Aptos Narrow" panose="020B0004020202020204" pitchFamily="34" charset="0"/>
            <a:cs typeface="Posterama" panose="020B0504020200020000" pitchFamily="34" charset="0"/>
          </a:endParaRPr>
        </a:p>
      </dgm:t>
    </dgm:pt>
    <dgm:pt modelId="{A635F5C8-22AA-4FED-9174-97C9A34C02C2}" type="parTrans" cxnId="{029CE713-E96D-455A-90E1-DFD73CC909D5}">
      <dgm:prSet/>
      <dgm:spPr/>
      <dgm:t>
        <a:bodyPr/>
        <a:lstStyle/>
        <a:p>
          <a:endParaRPr lang="en-IN"/>
        </a:p>
      </dgm:t>
    </dgm:pt>
    <dgm:pt modelId="{A1636834-A0A0-46E8-B6D7-5E67822D1A49}" type="sibTrans" cxnId="{029CE713-E96D-455A-90E1-DFD73CC909D5}">
      <dgm:prSet/>
      <dgm:spPr/>
      <dgm:t>
        <a:bodyPr/>
        <a:lstStyle/>
        <a:p>
          <a:endParaRPr lang="en-IN"/>
        </a:p>
      </dgm:t>
    </dgm:pt>
    <dgm:pt modelId="{C90A40EB-A795-43F2-9485-586B4CBFD804}" type="pres">
      <dgm:prSet presAssocID="{CDF420AA-3682-4E15-95BE-C3F799694B1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ACEF2F78-1714-4528-9CDD-3C2B469E8F6A}" type="pres">
      <dgm:prSet presAssocID="{9CFDED2A-F2A0-4952-AA9F-F9C52AA3AD76}" presName="composite" presStyleCnt="0"/>
      <dgm:spPr/>
    </dgm:pt>
    <dgm:pt modelId="{9627AF13-E5C8-4A8A-B61D-8085709FFB41}" type="pres">
      <dgm:prSet presAssocID="{9CFDED2A-F2A0-4952-AA9F-F9C52AA3AD76}" presName="FirstChild" presStyleLbl="revTx" presStyleIdx="0" presStyleCnt="4" custLinFactNeighborX="0" custLinFactNeighborY="-67313">
        <dgm:presLayoutVars>
          <dgm:chMax val="0"/>
          <dgm:chPref val="0"/>
          <dgm:bulletEnabled val="1"/>
        </dgm:presLayoutVars>
      </dgm:prSet>
      <dgm:spPr/>
    </dgm:pt>
    <dgm:pt modelId="{448F62A4-0EF0-4071-A8F3-06FFE878FBAD}" type="pres">
      <dgm:prSet presAssocID="{9CFDED2A-F2A0-4952-AA9F-F9C52AA3AD76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B7E848AB-D691-43D6-9B71-4185ACAEE520}" type="pres">
      <dgm:prSet presAssocID="{9CFDED2A-F2A0-4952-AA9F-F9C52AA3AD76}" presName="Accent" presStyleLbl="parChTrans1D1" presStyleIdx="0" presStyleCnt="4"/>
      <dgm:spPr/>
    </dgm:pt>
    <dgm:pt modelId="{57FE911C-92B3-49B8-81F6-DACAFF80A0F6}" type="pres">
      <dgm:prSet presAssocID="{D9B3737F-1D47-4EA9-BF37-5DCDB78A441B}" presName="sibTrans" presStyleCnt="0"/>
      <dgm:spPr/>
    </dgm:pt>
    <dgm:pt modelId="{679E6C95-A92E-49A4-A3DF-664D858408D7}" type="pres">
      <dgm:prSet presAssocID="{7AA049FB-6FB8-4644-A979-35C069D233F5}" presName="composite" presStyleCnt="0"/>
      <dgm:spPr/>
    </dgm:pt>
    <dgm:pt modelId="{5498950F-6BEA-44D4-B483-E7243D2C2572}" type="pres">
      <dgm:prSet presAssocID="{7AA049FB-6FB8-4644-A979-35C069D233F5}" presName="First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3E795BC1-E95F-4698-BA42-208C5211D3A1}" type="pres">
      <dgm:prSet presAssocID="{7AA049FB-6FB8-4644-A979-35C069D233F5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FEF75242-6D7E-4F6D-8AC3-AEF2D06CE606}" type="pres">
      <dgm:prSet presAssocID="{7AA049FB-6FB8-4644-A979-35C069D233F5}" presName="Accent" presStyleLbl="parChTrans1D1" presStyleIdx="1" presStyleCnt="4"/>
      <dgm:spPr/>
    </dgm:pt>
    <dgm:pt modelId="{F2577F8C-42B9-4A08-9CF8-CC2DF19B1B8A}" type="pres">
      <dgm:prSet presAssocID="{AA03BE33-8C12-466D-B2A8-C07C039141AD}" presName="sibTrans" presStyleCnt="0"/>
      <dgm:spPr/>
    </dgm:pt>
    <dgm:pt modelId="{B310DB12-38C6-4F21-B29D-932E3B84AFC5}" type="pres">
      <dgm:prSet presAssocID="{884DA8EF-3ACF-4A7D-84C2-36A1C2EE6C48}" presName="composite" presStyleCnt="0"/>
      <dgm:spPr/>
    </dgm:pt>
    <dgm:pt modelId="{7327320D-1EE7-45AD-80CD-E9AC16C8136C}" type="pres">
      <dgm:prSet presAssocID="{884DA8EF-3ACF-4A7D-84C2-36A1C2EE6C48}" presName="First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A81026B-DBAC-433F-9574-1BFF2174C568}" type="pres">
      <dgm:prSet presAssocID="{884DA8EF-3ACF-4A7D-84C2-36A1C2EE6C48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ADC5E689-3D9E-469B-AD6E-DEAF4D186C01}" type="pres">
      <dgm:prSet presAssocID="{884DA8EF-3ACF-4A7D-84C2-36A1C2EE6C48}" presName="Accent" presStyleLbl="parChTrans1D1" presStyleIdx="2" presStyleCnt="4"/>
      <dgm:spPr/>
    </dgm:pt>
    <dgm:pt modelId="{5DB01177-0214-490D-BB8E-347D6ECC386A}" type="pres">
      <dgm:prSet presAssocID="{289D0C6E-BE25-46D6-9E28-895BC0FDF5E5}" presName="sibTrans" presStyleCnt="0"/>
      <dgm:spPr/>
    </dgm:pt>
    <dgm:pt modelId="{71B58640-3A6C-4A44-B8A9-FCD73D5391C4}" type="pres">
      <dgm:prSet presAssocID="{E3D21C6F-4192-4894-8545-78D900ED56E2}" presName="composite" presStyleCnt="0"/>
      <dgm:spPr/>
    </dgm:pt>
    <dgm:pt modelId="{FEF909C0-E124-403F-9F79-432AEFF35BF5}" type="pres">
      <dgm:prSet presAssocID="{E3D21C6F-4192-4894-8545-78D900ED56E2}" presName="FirstChild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E3D3A109-082D-4596-B50D-4D8E52666F00}" type="pres">
      <dgm:prSet presAssocID="{E3D21C6F-4192-4894-8545-78D900ED56E2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89DF1DB3-C81F-47B2-8C40-2CAAE47DBAD6}" type="pres">
      <dgm:prSet presAssocID="{E3D21C6F-4192-4894-8545-78D900ED56E2}" presName="Accent" presStyleLbl="parChTrans1D1" presStyleIdx="3" presStyleCnt="4" custLinFactY="700908" custLinFactNeighborX="0" custLinFactNeighborY="800000"/>
      <dgm:spPr/>
    </dgm:pt>
  </dgm:ptLst>
  <dgm:cxnLst>
    <dgm:cxn modelId="{029CE713-E96D-455A-90E1-DFD73CC909D5}" srcId="{E3D21C6F-4192-4894-8545-78D900ED56E2}" destId="{7CC60103-E82A-4830-84CD-ACC00595D565}" srcOrd="0" destOrd="0" parTransId="{A635F5C8-22AA-4FED-9174-97C9A34C02C2}" sibTransId="{A1636834-A0A0-46E8-B6D7-5E67822D1A49}"/>
    <dgm:cxn modelId="{947A7926-E8F9-45AF-8100-E685B77AD85F}" type="presOf" srcId="{CDF420AA-3682-4E15-95BE-C3F799694B10}" destId="{C90A40EB-A795-43F2-9485-586B4CBFD804}" srcOrd="0" destOrd="0" presId="urn:microsoft.com/office/officeart/2011/layout/TabList"/>
    <dgm:cxn modelId="{7277D527-6257-4F4C-ACC8-37CED09C94A9}" srcId="{884DA8EF-3ACF-4A7D-84C2-36A1C2EE6C48}" destId="{6AB45028-82A4-49A6-AC11-3971B47AC5FC}" srcOrd="0" destOrd="0" parTransId="{A7C0162A-302D-4253-AA02-0D31182A0827}" sibTransId="{E6ECB94C-7878-40BB-952F-D679108BB48E}"/>
    <dgm:cxn modelId="{FA5E6138-B0F7-4288-AECE-6DC198D5F330}" type="presOf" srcId="{7CC60103-E82A-4830-84CD-ACC00595D565}" destId="{FEF909C0-E124-403F-9F79-432AEFF35BF5}" srcOrd="0" destOrd="0" presId="urn:microsoft.com/office/officeart/2011/layout/TabList"/>
    <dgm:cxn modelId="{F08BC54B-2402-4EC0-9D3B-27BA4686AA12}" type="presOf" srcId="{497B6FE6-471F-411A-BA0E-D866BE1E4BD5}" destId="{9627AF13-E5C8-4A8A-B61D-8085709FFB41}" srcOrd="0" destOrd="0" presId="urn:microsoft.com/office/officeart/2011/layout/TabList"/>
    <dgm:cxn modelId="{9F431F6C-16A4-48F8-B5F9-67EC39B0CCD8}" srcId="{CDF420AA-3682-4E15-95BE-C3F799694B10}" destId="{E3D21C6F-4192-4894-8545-78D900ED56E2}" srcOrd="3" destOrd="0" parTransId="{9393FA41-BF40-4339-A425-42490B326EB1}" sibTransId="{9DCD418E-5B28-40DA-8D33-E45DA86B415B}"/>
    <dgm:cxn modelId="{2608D94D-3F07-4CCF-B1A9-B4A85DDFD51E}" type="presOf" srcId="{9CFDED2A-F2A0-4952-AA9F-F9C52AA3AD76}" destId="{448F62A4-0EF0-4071-A8F3-06FFE878FBAD}" srcOrd="0" destOrd="0" presId="urn:microsoft.com/office/officeart/2011/layout/TabList"/>
    <dgm:cxn modelId="{1FD3AB82-67FA-4E23-9D57-C6B28162455B}" type="presOf" srcId="{7AA049FB-6FB8-4644-A979-35C069D233F5}" destId="{3E795BC1-E95F-4698-BA42-208C5211D3A1}" srcOrd="0" destOrd="0" presId="urn:microsoft.com/office/officeart/2011/layout/TabList"/>
    <dgm:cxn modelId="{3FC1808E-EA75-437A-AE1C-B0D881337489}" srcId="{7AA049FB-6FB8-4644-A979-35C069D233F5}" destId="{4810E53E-F95F-4241-B96F-4287F94DBA16}" srcOrd="0" destOrd="0" parTransId="{961B5713-E951-49F6-B9A1-07EBF357A086}" sibTransId="{794B7AB2-25B6-401E-B682-1BADA298954D}"/>
    <dgm:cxn modelId="{9DA7BA9E-2FF4-462E-AD41-A8F76833CD5C}" type="presOf" srcId="{E3D21C6F-4192-4894-8545-78D900ED56E2}" destId="{E3D3A109-082D-4596-B50D-4D8E52666F00}" srcOrd="0" destOrd="0" presId="urn:microsoft.com/office/officeart/2011/layout/TabList"/>
    <dgm:cxn modelId="{4A257EA7-CB91-4F36-8B20-B011089DE6AF}" srcId="{9CFDED2A-F2A0-4952-AA9F-F9C52AA3AD76}" destId="{497B6FE6-471F-411A-BA0E-D866BE1E4BD5}" srcOrd="0" destOrd="0" parTransId="{E2208E1A-B8B2-473A-8CEC-60C81212465D}" sibTransId="{2108EAC6-9414-434F-BACF-D8DE3147F949}"/>
    <dgm:cxn modelId="{EF1A53AF-F0A3-486E-A133-59BBD32ECC1A}" type="presOf" srcId="{884DA8EF-3ACF-4A7D-84C2-36A1C2EE6C48}" destId="{6A81026B-DBAC-433F-9574-1BFF2174C568}" srcOrd="0" destOrd="0" presId="urn:microsoft.com/office/officeart/2011/layout/TabList"/>
    <dgm:cxn modelId="{38F650CD-DD60-4455-B22C-D69AEAF7FA6E}" srcId="{CDF420AA-3682-4E15-95BE-C3F799694B10}" destId="{9CFDED2A-F2A0-4952-AA9F-F9C52AA3AD76}" srcOrd="0" destOrd="0" parTransId="{20D3250F-E788-4AA0-A0C8-55977490192E}" sibTransId="{D9B3737F-1D47-4EA9-BF37-5DCDB78A441B}"/>
    <dgm:cxn modelId="{F940FED2-6EEF-4825-B07D-F8A91C32DB76}" srcId="{CDF420AA-3682-4E15-95BE-C3F799694B10}" destId="{884DA8EF-3ACF-4A7D-84C2-36A1C2EE6C48}" srcOrd="2" destOrd="0" parTransId="{838B409C-D73C-4AC6-A9DF-6C28884D0078}" sibTransId="{289D0C6E-BE25-46D6-9E28-895BC0FDF5E5}"/>
    <dgm:cxn modelId="{1F7726DC-FFE0-472E-A8E5-3541ABC68BBB}" type="presOf" srcId="{6AB45028-82A4-49A6-AC11-3971B47AC5FC}" destId="{7327320D-1EE7-45AD-80CD-E9AC16C8136C}" srcOrd="0" destOrd="0" presId="urn:microsoft.com/office/officeart/2011/layout/TabList"/>
    <dgm:cxn modelId="{2EF7D3E1-0DB7-4DBB-BEB5-582CE144E289}" type="presOf" srcId="{4810E53E-F95F-4241-B96F-4287F94DBA16}" destId="{5498950F-6BEA-44D4-B483-E7243D2C2572}" srcOrd="0" destOrd="0" presId="urn:microsoft.com/office/officeart/2011/layout/TabList"/>
    <dgm:cxn modelId="{D9A9E0F1-FDE9-4D3C-AEA0-AEC7BA333BD5}" srcId="{CDF420AA-3682-4E15-95BE-C3F799694B10}" destId="{7AA049FB-6FB8-4644-A979-35C069D233F5}" srcOrd="1" destOrd="0" parTransId="{7EF63D08-797B-4274-93A9-310095631300}" sibTransId="{AA03BE33-8C12-466D-B2A8-C07C039141AD}"/>
    <dgm:cxn modelId="{D9047E7E-C76A-4319-A36A-ACC11AD8013B}" type="presParOf" srcId="{C90A40EB-A795-43F2-9485-586B4CBFD804}" destId="{ACEF2F78-1714-4528-9CDD-3C2B469E8F6A}" srcOrd="0" destOrd="0" presId="urn:microsoft.com/office/officeart/2011/layout/TabList"/>
    <dgm:cxn modelId="{17A80A1F-5D31-455F-AD0F-A8356B1B1907}" type="presParOf" srcId="{ACEF2F78-1714-4528-9CDD-3C2B469E8F6A}" destId="{9627AF13-E5C8-4A8A-B61D-8085709FFB41}" srcOrd="0" destOrd="0" presId="urn:microsoft.com/office/officeart/2011/layout/TabList"/>
    <dgm:cxn modelId="{5F1A2EDD-F837-4BCD-B8A1-85B07B090DA3}" type="presParOf" srcId="{ACEF2F78-1714-4528-9CDD-3C2B469E8F6A}" destId="{448F62A4-0EF0-4071-A8F3-06FFE878FBAD}" srcOrd="1" destOrd="0" presId="urn:microsoft.com/office/officeart/2011/layout/TabList"/>
    <dgm:cxn modelId="{DF9521FC-F4CC-4DFF-91B8-34DD6BC24CEB}" type="presParOf" srcId="{ACEF2F78-1714-4528-9CDD-3C2B469E8F6A}" destId="{B7E848AB-D691-43D6-9B71-4185ACAEE520}" srcOrd="2" destOrd="0" presId="urn:microsoft.com/office/officeart/2011/layout/TabList"/>
    <dgm:cxn modelId="{9187F4A3-DBC5-4077-A5C9-589EAEA6CC83}" type="presParOf" srcId="{C90A40EB-A795-43F2-9485-586B4CBFD804}" destId="{57FE911C-92B3-49B8-81F6-DACAFF80A0F6}" srcOrd="1" destOrd="0" presId="urn:microsoft.com/office/officeart/2011/layout/TabList"/>
    <dgm:cxn modelId="{29B88A90-CAAB-48B2-A580-126F7D7C2EA8}" type="presParOf" srcId="{C90A40EB-A795-43F2-9485-586B4CBFD804}" destId="{679E6C95-A92E-49A4-A3DF-664D858408D7}" srcOrd="2" destOrd="0" presId="urn:microsoft.com/office/officeart/2011/layout/TabList"/>
    <dgm:cxn modelId="{7FFB7BE3-3557-42BF-A842-A655824A4DE3}" type="presParOf" srcId="{679E6C95-A92E-49A4-A3DF-664D858408D7}" destId="{5498950F-6BEA-44D4-B483-E7243D2C2572}" srcOrd="0" destOrd="0" presId="urn:microsoft.com/office/officeart/2011/layout/TabList"/>
    <dgm:cxn modelId="{0B4964D1-D913-4AF9-913F-3F336E266CEA}" type="presParOf" srcId="{679E6C95-A92E-49A4-A3DF-664D858408D7}" destId="{3E795BC1-E95F-4698-BA42-208C5211D3A1}" srcOrd="1" destOrd="0" presId="urn:microsoft.com/office/officeart/2011/layout/TabList"/>
    <dgm:cxn modelId="{0228157D-5098-4D42-A9AA-AA56B0C4F686}" type="presParOf" srcId="{679E6C95-A92E-49A4-A3DF-664D858408D7}" destId="{FEF75242-6D7E-4F6D-8AC3-AEF2D06CE606}" srcOrd="2" destOrd="0" presId="urn:microsoft.com/office/officeart/2011/layout/TabList"/>
    <dgm:cxn modelId="{EC06A832-E969-4AD8-BA83-943EA43A52E3}" type="presParOf" srcId="{C90A40EB-A795-43F2-9485-586B4CBFD804}" destId="{F2577F8C-42B9-4A08-9CF8-CC2DF19B1B8A}" srcOrd="3" destOrd="0" presId="urn:microsoft.com/office/officeart/2011/layout/TabList"/>
    <dgm:cxn modelId="{27459E19-151D-4EF5-819F-17B174D3181D}" type="presParOf" srcId="{C90A40EB-A795-43F2-9485-586B4CBFD804}" destId="{B310DB12-38C6-4F21-B29D-932E3B84AFC5}" srcOrd="4" destOrd="0" presId="urn:microsoft.com/office/officeart/2011/layout/TabList"/>
    <dgm:cxn modelId="{16FB48B2-CEC8-409F-AEA5-99AAB6729E4F}" type="presParOf" srcId="{B310DB12-38C6-4F21-B29D-932E3B84AFC5}" destId="{7327320D-1EE7-45AD-80CD-E9AC16C8136C}" srcOrd="0" destOrd="0" presId="urn:microsoft.com/office/officeart/2011/layout/TabList"/>
    <dgm:cxn modelId="{A27011DE-9913-440E-B197-ADCD7EFCB0D3}" type="presParOf" srcId="{B310DB12-38C6-4F21-B29D-932E3B84AFC5}" destId="{6A81026B-DBAC-433F-9574-1BFF2174C568}" srcOrd="1" destOrd="0" presId="urn:microsoft.com/office/officeart/2011/layout/TabList"/>
    <dgm:cxn modelId="{FD267B30-8481-4B43-9382-97136A9F7956}" type="presParOf" srcId="{B310DB12-38C6-4F21-B29D-932E3B84AFC5}" destId="{ADC5E689-3D9E-469B-AD6E-DEAF4D186C01}" srcOrd="2" destOrd="0" presId="urn:microsoft.com/office/officeart/2011/layout/TabList"/>
    <dgm:cxn modelId="{AA388D84-4051-4468-A626-88358F24AD05}" type="presParOf" srcId="{C90A40EB-A795-43F2-9485-586B4CBFD804}" destId="{5DB01177-0214-490D-BB8E-347D6ECC386A}" srcOrd="5" destOrd="0" presId="urn:microsoft.com/office/officeart/2011/layout/TabList"/>
    <dgm:cxn modelId="{EB75F5EA-0B51-4806-A046-2669265D1BEB}" type="presParOf" srcId="{C90A40EB-A795-43F2-9485-586B4CBFD804}" destId="{71B58640-3A6C-4A44-B8A9-FCD73D5391C4}" srcOrd="6" destOrd="0" presId="urn:microsoft.com/office/officeart/2011/layout/TabList"/>
    <dgm:cxn modelId="{9E8C38F9-0265-400B-9A42-667B5210B2BA}" type="presParOf" srcId="{71B58640-3A6C-4A44-B8A9-FCD73D5391C4}" destId="{FEF909C0-E124-403F-9F79-432AEFF35BF5}" srcOrd="0" destOrd="0" presId="urn:microsoft.com/office/officeart/2011/layout/TabList"/>
    <dgm:cxn modelId="{F9180E24-EB54-4841-AE1C-5A531AD1D7E3}" type="presParOf" srcId="{71B58640-3A6C-4A44-B8A9-FCD73D5391C4}" destId="{E3D3A109-082D-4596-B50D-4D8E52666F00}" srcOrd="1" destOrd="0" presId="urn:microsoft.com/office/officeart/2011/layout/TabList"/>
    <dgm:cxn modelId="{979E19DC-E50B-46DA-88BA-BEB5E59CA5B8}" type="presParOf" srcId="{71B58640-3A6C-4A44-B8A9-FCD73D5391C4}" destId="{89DF1DB3-C81F-47B2-8C40-2CAAE47DBAD6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CDE5C-051B-424A-AB23-4A35920E75A0}">
      <dsp:nvSpPr>
        <dsp:cNvPr id="0" name=""/>
        <dsp:cNvSpPr/>
      </dsp:nvSpPr>
      <dsp:spPr>
        <a:xfrm>
          <a:off x="0" y="4869919"/>
          <a:ext cx="5079076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DF1DB3-C81F-47B2-8C40-2CAAE47DBAD6}">
      <dsp:nvSpPr>
        <dsp:cNvPr id="0" name=""/>
        <dsp:cNvSpPr/>
      </dsp:nvSpPr>
      <dsp:spPr>
        <a:xfrm>
          <a:off x="0" y="3887260"/>
          <a:ext cx="5079076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C5E689-3D9E-469B-AD6E-DEAF4D186C01}">
      <dsp:nvSpPr>
        <dsp:cNvPr id="0" name=""/>
        <dsp:cNvSpPr/>
      </dsp:nvSpPr>
      <dsp:spPr>
        <a:xfrm>
          <a:off x="0" y="2904601"/>
          <a:ext cx="5079076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75242-6D7E-4F6D-8AC3-AEF2D06CE606}">
      <dsp:nvSpPr>
        <dsp:cNvPr id="0" name=""/>
        <dsp:cNvSpPr/>
      </dsp:nvSpPr>
      <dsp:spPr>
        <a:xfrm>
          <a:off x="0" y="1921941"/>
          <a:ext cx="5079076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E848AB-D691-43D6-9B71-4185ACAEE520}">
      <dsp:nvSpPr>
        <dsp:cNvPr id="0" name=""/>
        <dsp:cNvSpPr/>
      </dsp:nvSpPr>
      <dsp:spPr>
        <a:xfrm>
          <a:off x="0" y="939282"/>
          <a:ext cx="5079076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7AF13-E5C8-4A8A-B61D-8085709FFB41}">
      <dsp:nvSpPr>
        <dsp:cNvPr id="0" name=""/>
        <dsp:cNvSpPr/>
      </dsp:nvSpPr>
      <dsp:spPr>
        <a:xfrm>
          <a:off x="1320559" y="3416"/>
          <a:ext cx="3758516" cy="93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Heart disease risk increases significantly with age — 75+ group shows highest burden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20559" y="3416"/>
        <a:ext cx="3758516" cy="935866"/>
      </dsp:txXfrm>
    </dsp:sp>
    <dsp:sp modelId="{448F62A4-0EF0-4071-A8F3-06FFE878FBAD}">
      <dsp:nvSpPr>
        <dsp:cNvPr id="0" name=""/>
        <dsp:cNvSpPr/>
      </dsp:nvSpPr>
      <dsp:spPr>
        <a:xfrm>
          <a:off x="0" y="3416"/>
          <a:ext cx="1320559" cy="935866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1</a:t>
          </a:r>
        </a:p>
      </dsp:txBody>
      <dsp:txXfrm>
        <a:off x="45693" y="49109"/>
        <a:ext cx="1229173" cy="890173"/>
      </dsp:txXfrm>
    </dsp:sp>
    <dsp:sp modelId="{5498950F-6BEA-44D4-B483-E7243D2C2572}">
      <dsp:nvSpPr>
        <dsp:cNvPr id="0" name=""/>
        <dsp:cNvSpPr/>
      </dsp:nvSpPr>
      <dsp:spPr>
        <a:xfrm>
          <a:off x="1320559" y="986075"/>
          <a:ext cx="3758516" cy="93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Male population has ~24% higher cardiovascular disease rates than females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20559" y="986075"/>
        <a:ext cx="3758516" cy="935866"/>
      </dsp:txXfrm>
    </dsp:sp>
    <dsp:sp modelId="{3E795BC1-E95F-4698-BA42-208C5211D3A1}">
      <dsp:nvSpPr>
        <dsp:cNvPr id="0" name=""/>
        <dsp:cNvSpPr/>
      </dsp:nvSpPr>
      <dsp:spPr>
        <a:xfrm>
          <a:off x="0" y="986075"/>
          <a:ext cx="1320559" cy="935866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2</a:t>
          </a:r>
        </a:p>
      </dsp:txBody>
      <dsp:txXfrm>
        <a:off x="45693" y="1031768"/>
        <a:ext cx="1229173" cy="890173"/>
      </dsp:txXfrm>
    </dsp:sp>
    <dsp:sp modelId="{7327320D-1EE7-45AD-80CD-E9AC16C8136C}">
      <dsp:nvSpPr>
        <dsp:cNvPr id="0" name=""/>
        <dsp:cNvSpPr/>
      </dsp:nvSpPr>
      <dsp:spPr>
        <a:xfrm>
          <a:off x="1320559" y="1968734"/>
          <a:ext cx="3758516" cy="93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Non-Hispanic Black population has the highest disease burden (18.71) — significant racial health disparity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20559" y="1968734"/>
        <a:ext cx="3758516" cy="935866"/>
      </dsp:txXfrm>
    </dsp:sp>
    <dsp:sp modelId="{6A81026B-DBAC-433F-9574-1BFF2174C568}">
      <dsp:nvSpPr>
        <dsp:cNvPr id="0" name=""/>
        <dsp:cNvSpPr/>
      </dsp:nvSpPr>
      <dsp:spPr>
        <a:xfrm>
          <a:off x="0" y="1968734"/>
          <a:ext cx="1320559" cy="935866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3</a:t>
          </a:r>
        </a:p>
      </dsp:txBody>
      <dsp:txXfrm>
        <a:off x="45693" y="2014427"/>
        <a:ext cx="1229173" cy="890173"/>
      </dsp:txXfrm>
    </dsp:sp>
    <dsp:sp modelId="{FEF909C0-E124-403F-9F79-432AEFF35BF5}">
      <dsp:nvSpPr>
        <dsp:cNvPr id="0" name=""/>
        <dsp:cNvSpPr/>
      </dsp:nvSpPr>
      <dsp:spPr>
        <a:xfrm>
          <a:off x="1320559" y="2951394"/>
          <a:ext cx="3758516" cy="93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Heart failure (19.43) and Major CVD (23.84) are the most severe disease categories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20559" y="2951394"/>
        <a:ext cx="3758516" cy="935866"/>
      </dsp:txXfrm>
    </dsp:sp>
    <dsp:sp modelId="{E3D3A109-082D-4596-B50D-4D8E52666F00}">
      <dsp:nvSpPr>
        <dsp:cNvPr id="0" name=""/>
        <dsp:cNvSpPr/>
      </dsp:nvSpPr>
      <dsp:spPr>
        <a:xfrm>
          <a:off x="0" y="2951394"/>
          <a:ext cx="1320559" cy="935866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4</a:t>
          </a:r>
        </a:p>
      </dsp:txBody>
      <dsp:txXfrm>
        <a:off x="45693" y="2997087"/>
        <a:ext cx="1229173" cy="890173"/>
      </dsp:txXfrm>
    </dsp:sp>
    <dsp:sp modelId="{E285BF38-62BE-4A5A-A008-A94931978152}">
      <dsp:nvSpPr>
        <dsp:cNvPr id="0" name=""/>
        <dsp:cNvSpPr/>
      </dsp:nvSpPr>
      <dsp:spPr>
        <a:xfrm>
          <a:off x="1320559" y="3934053"/>
          <a:ext cx="3758516" cy="93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Narrow" panose="020B0004020202020204" pitchFamily="34" charset="0"/>
              <a:cs typeface="Posterama" panose="020B0504020200020000" pitchFamily="34" charset="0"/>
            </a:rPr>
            <a:t>Overall heart disease rates declined from ~17 in 2004 to ~13.5 in 2013Some disease types improved faster than others — Stroke shows more stability than CVD</a:t>
          </a:r>
          <a:endParaRPr lang="en-IN" sz="15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20559" y="3934053"/>
        <a:ext cx="3758516" cy="935866"/>
      </dsp:txXfrm>
    </dsp:sp>
    <dsp:sp modelId="{B8E6E505-550D-4032-9629-9FC76F009283}">
      <dsp:nvSpPr>
        <dsp:cNvPr id="0" name=""/>
        <dsp:cNvSpPr/>
      </dsp:nvSpPr>
      <dsp:spPr>
        <a:xfrm>
          <a:off x="0" y="3934053"/>
          <a:ext cx="1320559" cy="935866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5</a:t>
          </a:r>
        </a:p>
      </dsp:txBody>
      <dsp:txXfrm>
        <a:off x="45693" y="3979746"/>
        <a:ext cx="1229173" cy="8901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F1DB3-C81F-47B2-8C40-2CAAE47DBAD6}">
      <dsp:nvSpPr>
        <dsp:cNvPr id="0" name=""/>
        <dsp:cNvSpPr/>
      </dsp:nvSpPr>
      <dsp:spPr>
        <a:xfrm>
          <a:off x="0" y="3865417"/>
          <a:ext cx="5006115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C5E689-3D9E-469B-AD6E-DEAF4D186C01}">
      <dsp:nvSpPr>
        <dsp:cNvPr id="0" name=""/>
        <dsp:cNvSpPr/>
      </dsp:nvSpPr>
      <dsp:spPr>
        <a:xfrm>
          <a:off x="0" y="2887013"/>
          <a:ext cx="5006115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75242-6D7E-4F6D-8AC3-AEF2D06CE606}">
      <dsp:nvSpPr>
        <dsp:cNvPr id="0" name=""/>
        <dsp:cNvSpPr/>
      </dsp:nvSpPr>
      <dsp:spPr>
        <a:xfrm>
          <a:off x="0" y="1909432"/>
          <a:ext cx="5006115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E848AB-D691-43D6-9B71-4185ACAEE520}">
      <dsp:nvSpPr>
        <dsp:cNvPr id="0" name=""/>
        <dsp:cNvSpPr/>
      </dsp:nvSpPr>
      <dsp:spPr>
        <a:xfrm>
          <a:off x="0" y="931851"/>
          <a:ext cx="5006115" cy="0"/>
        </a:xfrm>
        <a:prstGeom prst="line">
          <a:avLst/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7AF13-E5C8-4A8A-B61D-8085709FFB41}">
      <dsp:nvSpPr>
        <dsp:cNvPr id="0" name=""/>
        <dsp:cNvSpPr/>
      </dsp:nvSpPr>
      <dsp:spPr>
        <a:xfrm>
          <a:off x="1301589" y="0"/>
          <a:ext cx="3704525" cy="931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Outliers retained — they represent real high-risk groups, not errors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01589" y="0"/>
        <a:ext cx="3704525" cy="931029"/>
      </dsp:txXfrm>
    </dsp:sp>
    <dsp:sp modelId="{448F62A4-0EF0-4071-A8F3-06FFE878FBAD}">
      <dsp:nvSpPr>
        <dsp:cNvPr id="0" name=""/>
        <dsp:cNvSpPr/>
      </dsp:nvSpPr>
      <dsp:spPr>
        <a:xfrm>
          <a:off x="0" y="822"/>
          <a:ext cx="1301589" cy="931029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6</a:t>
          </a:r>
        </a:p>
      </dsp:txBody>
      <dsp:txXfrm>
        <a:off x="45457" y="46279"/>
        <a:ext cx="1210675" cy="885572"/>
      </dsp:txXfrm>
    </dsp:sp>
    <dsp:sp modelId="{5498950F-6BEA-44D4-B483-E7243D2C2572}">
      <dsp:nvSpPr>
        <dsp:cNvPr id="0" name=""/>
        <dsp:cNvSpPr/>
      </dsp:nvSpPr>
      <dsp:spPr>
        <a:xfrm>
          <a:off x="1301589" y="978403"/>
          <a:ext cx="3704525" cy="931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Geographic inequality exists — certain U.S. locations have noticeably higher rates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01589" y="978403"/>
        <a:ext cx="3704525" cy="931029"/>
      </dsp:txXfrm>
    </dsp:sp>
    <dsp:sp modelId="{3E795BC1-E95F-4698-BA42-208C5211D3A1}">
      <dsp:nvSpPr>
        <dsp:cNvPr id="0" name=""/>
        <dsp:cNvSpPr/>
      </dsp:nvSpPr>
      <dsp:spPr>
        <a:xfrm>
          <a:off x="0" y="978403"/>
          <a:ext cx="1301589" cy="931029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7</a:t>
          </a:r>
        </a:p>
      </dsp:txBody>
      <dsp:txXfrm>
        <a:off x="45457" y="1023860"/>
        <a:ext cx="1210675" cy="885572"/>
      </dsp:txXfrm>
    </dsp:sp>
    <dsp:sp modelId="{7327320D-1EE7-45AD-80CD-E9AC16C8136C}">
      <dsp:nvSpPr>
        <dsp:cNvPr id="0" name=""/>
        <dsp:cNvSpPr/>
      </dsp:nvSpPr>
      <dsp:spPr>
        <a:xfrm>
          <a:off x="1301589" y="1955984"/>
          <a:ext cx="3704525" cy="931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Gender disparity in heart disease rates persists consistently across all observed years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01589" y="1955984"/>
        <a:ext cx="3704525" cy="931029"/>
      </dsp:txXfrm>
    </dsp:sp>
    <dsp:sp modelId="{6A81026B-DBAC-433F-9574-1BFF2174C568}">
      <dsp:nvSpPr>
        <dsp:cNvPr id="0" name=""/>
        <dsp:cNvSpPr/>
      </dsp:nvSpPr>
      <dsp:spPr>
        <a:xfrm>
          <a:off x="0" y="1955984"/>
          <a:ext cx="1301589" cy="931029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8</a:t>
          </a:r>
        </a:p>
      </dsp:txBody>
      <dsp:txXfrm>
        <a:off x="45457" y="2001441"/>
        <a:ext cx="1210675" cy="885572"/>
      </dsp:txXfrm>
    </dsp:sp>
    <dsp:sp modelId="{FEF909C0-E124-403F-9F79-432AEFF35BF5}">
      <dsp:nvSpPr>
        <dsp:cNvPr id="0" name=""/>
        <dsp:cNvSpPr/>
      </dsp:nvSpPr>
      <dsp:spPr>
        <a:xfrm>
          <a:off x="1301589" y="2933565"/>
          <a:ext cx="3704525" cy="931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Narrow" panose="020B0004020202020204" pitchFamily="34" charset="0"/>
              <a:cs typeface="Posterama" panose="020B0504020200020000" pitchFamily="34" charset="0"/>
            </a:rPr>
            <a:t>Public health interventions have measurably reduced cardiovascular disease trends over time</a:t>
          </a:r>
          <a:endParaRPr lang="en-IN" sz="1800" kern="1200" dirty="0">
            <a:latin typeface="Aptos Narrow" panose="020B0004020202020204" pitchFamily="34" charset="0"/>
            <a:cs typeface="Posterama" panose="020B0504020200020000" pitchFamily="34" charset="0"/>
          </a:endParaRPr>
        </a:p>
      </dsp:txBody>
      <dsp:txXfrm>
        <a:off x="1301589" y="2933565"/>
        <a:ext cx="3704525" cy="931029"/>
      </dsp:txXfrm>
    </dsp:sp>
    <dsp:sp modelId="{E3D3A109-082D-4596-B50D-4D8E52666F00}">
      <dsp:nvSpPr>
        <dsp:cNvPr id="0" name=""/>
        <dsp:cNvSpPr/>
      </dsp:nvSpPr>
      <dsp:spPr>
        <a:xfrm>
          <a:off x="0" y="2933565"/>
          <a:ext cx="1301589" cy="931029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93345" rIns="93345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>
              <a:latin typeface="Aptos Narrow" panose="020B0004020202020204" pitchFamily="34" charset="0"/>
              <a:cs typeface="Posterama" panose="020B0504020200020000" pitchFamily="34" charset="0"/>
            </a:rPr>
            <a:t>9</a:t>
          </a:r>
        </a:p>
      </dsp:txBody>
      <dsp:txXfrm>
        <a:off x="45457" y="2979022"/>
        <a:ext cx="1210675" cy="885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3C68A39-12C9-7CDE-328F-46870FDA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03D2BAE-11F7-0512-ABDD-FC543D9B8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9AD2807-3026-D149-9D4B-6FC557BDC8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87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2AD1BA0-D871-133E-8D66-548DBF53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756A4FD-0C0C-B79B-BBB0-BB881B359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C614B5E-292A-E758-B003-ADD2701CD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753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7A691CD-6EAC-5278-EC8F-6B7DBB67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BDCB99C-B4BE-BB73-800D-C437C04C7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5E6DCC0-40A8-9445-2AE6-DB5F31D28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616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4396A39-8FED-B562-E9D4-452EA541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A642D05-BBBF-8D43-2517-A55AE4BE7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E30E182-1967-A730-7180-2CE413539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969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C5F525-A29B-973A-8132-03D18F87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9786A86-2D53-B092-C596-C3F4E224E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13AF377-94C8-9D8B-B92E-23F35615B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48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235CBBF-6B5A-B66D-DF68-94CF11A2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BCF1FFF-2ECA-4945-5023-0E77F3C3A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0D22FAA-AFB1-9412-F7C6-B7533084F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245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603E190-6D58-962A-99AE-E2296C05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A5C870F-0909-28F7-1C45-0791A2ED5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4144086-7A64-85A1-0A50-92DA1BC49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87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EB6789F-E969-C667-EF54-1E81DB01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DF4C0D0-A56C-9EA3-A8D6-9C6FF3577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6FCC5A7-7C2D-7776-3FC6-8AF57F2C7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005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4D1E665-265C-944F-BB9F-9EA7F2783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C9E2636-F14C-828F-7B58-CD68907AB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047599B-6224-70F9-0BED-694D2DAFC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43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68DA59-76AB-18E6-00FE-34477F31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C4FC3BD-6CB2-4B00-079C-AEF9CF3A7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BA7A58D-FE33-9C45-651C-4C1A9E6BC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347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EB4BCA3-04B7-BF89-CCE3-D7E6F72C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827644F-9C98-7F03-E297-0A8D7B1A9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18AC30D-E4BE-3020-1F2C-EE95CDD04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838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CAEBFCC-679F-D43A-6A95-A5229A70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CE709A2-CC95-A5E0-A96D-C803F16BB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B0A15B0-6AB4-8D18-60C4-F02D6C05A5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087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C2DAAF0-5D8D-1125-1583-84EBDC8E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66D0E1E-5F29-B0E6-2168-F6EA08D9F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67383F5-927F-4DEF-9686-64DD73D0D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36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3C0341-048E-2A3B-ABD1-CA945E6A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E91E8CB-1B2E-1848-BBEE-047C77026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3A14301-1CBB-05A9-B8AA-DEE7129DCE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786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5525C2-D79F-B9AF-C1F0-E126679A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4D9CA20-31EF-E6E7-BBE8-1D4C626065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B2914A7-D012-8D4D-7A45-64D2E67BE9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73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EC3E6AC-B020-40EB-9882-42D2CCDF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8E3BAE6-4AAD-C76C-A567-06FCD4317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7F93B6D-9E47-A0A6-C9C7-6630185B3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384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5E58E1D-EBFC-47BE-08E2-E1BDBFD46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1CB0224-417C-D36A-143B-FF2FA5009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A5CF33A-57EF-E566-DDE2-F00E6AB6A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558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7EAC191-92A0-D2FC-0406-39E0C84C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B4C7CE1-AE1B-FF7B-1952-EF724E198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BDEF4FA-02BB-F2CD-6905-ACAFCA7A9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049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3D8C0AE-B154-C50E-4D50-338A97AB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698B326-2D41-E3E9-9029-C66A5A740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560D6B8-9A1C-1DD4-9A01-43446C1BD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809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4DE4209-82B5-231D-D98A-E7089515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C0AE0F7-1224-BC13-9CFF-3A775D185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08EAF75-A70E-D3C1-5FBB-86673530E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154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F572D70-45DB-58A0-F7E8-844F8F42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4541723-F42E-E048-1E14-1F370BE11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879BCC6-2053-0FCC-A5E0-B7242A3BF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84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433D1C9-4000-E19D-130F-04A01022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48CD608-E3A2-EC21-853C-FACB04FDB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6BED93C-FD92-23D0-A064-F3150282D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97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A10C816-9056-3FE1-2132-577FE153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199D965-4503-ECDF-0718-E1B2F9165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7699D87-2DF1-0153-C6D3-B7B0B8050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8711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A22F96D-A736-8902-53EA-16A2D43A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CE89928-1C56-7FAE-3ED0-D5D7EEA17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F227DEA-D48F-42AA-21CA-60D211520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8633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A3808C3-7ED0-1742-23D2-6CB45A9C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6E43D62-A8AA-B6C2-E81A-14E8DEFC2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84DCCD0-6FAE-4642-0485-AD0C59C39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9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4BDF769-1B5A-5F6D-7C41-26F39C0F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F3227AB-7F3A-3DC2-7B5C-6DF20B5B11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6758BB4-6402-C038-4FB9-BBD1AA83C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2695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5C29EB9-EE7D-291E-C018-632B3121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B8FF6F7-D2C0-F401-BC64-897F763C6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2FE5017-DA1A-D3E3-7BCE-11BE14928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3481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9475B97-24B6-37EC-44FC-55EA1E1FC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C5C5384-CF39-4D28-A83D-874DCB8FD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A48A397-F825-A57E-7213-92EE83158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457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7D14DD5-BC93-1716-4BB2-E9907EF9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25648FE-7C68-231F-2B52-B5D50CB9D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6D4FD05-26E4-1A32-2D2A-DA62A9FF5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812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8CE9B93-5165-5E9C-4C5F-4A6D5503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19B7880-B058-639E-164B-9E93BAFCA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A29511F-F159-FE66-0EC3-22B7105BD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321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7D63F4-902F-D449-D797-527BCF8B5317}"/>
              </a:ext>
            </a:extLst>
          </p:cNvPr>
          <p:cNvSpPr txBox="1">
            <a:spLocks/>
          </p:cNvSpPr>
          <p:nvPr/>
        </p:nvSpPr>
        <p:spPr>
          <a:xfrm>
            <a:off x="838200" y="2458720"/>
            <a:ext cx="10515600" cy="14131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>
              <a:buClrTx/>
              <a:buFontTx/>
              <a:buNone/>
            </a:pPr>
            <a:r>
              <a:rPr lang="en-US" sz="4400" dirty="0">
                <a:solidFill>
                  <a:srgbClr val="000000"/>
                </a:solidFill>
                <a:latin typeface="Posterama"/>
              </a:rPr>
              <a:t>Heart Disease Surveillance </a:t>
            </a:r>
            <a:r>
              <a:rPr lang="en-US" sz="3200" dirty="0">
                <a:solidFill>
                  <a:srgbClr val="000000"/>
                </a:solidFill>
                <a:latin typeface="Posterama"/>
              </a:rPr>
              <a:t>Exploratory Data Analysis</a:t>
            </a:r>
            <a:endParaRPr lang="en-US" sz="4400" dirty="0">
              <a:solidFill>
                <a:srgbClr val="000000"/>
              </a:solidFill>
              <a:latin typeface="Posterama"/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81353747-DC47-B725-6B1D-E4D149AE24BC}"/>
              </a:ext>
            </a:extLst>
          </p:cNvPr>
          <p:cNvSpPr txBox="1">
            <a:spLocks/>
          </p:cNvSpPr>
          <p:nvPr/>
        </p:nvSpPr>
        <p:spPr>
          <a:xfrm>
            <a:off x="1524000" y="4268770"/>
            <a:ext cx="9144000" cy="8969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D3ED"/>
              </a:buClr>
              <a:buSzTx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ytona Condensed Light"/>
              </a:rPr>
              <a:t>Analysis of U.S. Population-Level Cardiovascular Disease Data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D3ED"/>
              </a:buClr>
              <a:buSzTx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ytona Condensed Light"/>
              </a:rPr>
              <a:t>(2004–2013)</a:t>
            </a:r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9D6B57BA-3891-B577-646E-79EA0F1634D6}"/>
              </a:ext>
            </a:extLst>
          </p:cNvPr>
          <p:cNvSpPr txBox="1">
            <a:spLocks/>
          </p:cNvSpPr>
          <p:nvPr/>
        </p:nvSpPr>
        <p:spPr>
          <a:xfrm>
            <a:off x="3804327" y="5562599"/>
            <a:ext cx="4582160" cy="3403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D3ED"/>
              </a:buClr>
              <a:buSzTx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ytona Condensed Light"/>
                <a:ea typeface="+mn-ea"/>
                <a:cs typeface="+mn-cs"/>
              </a:rPr>
              <a:t>Presented by: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ytona Condensed Light"/>
                <a:ea typeface="+mn-ea"/>
                <a:cs typeface="+mn-cs"/>
              </a:rPr>
              <a:t>BVS Sushanth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1FC1B48-B29C-313B-3AB8-DDD8191C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CFBC5DCF-2E2E-B8CA-FD8E-A98152C8A7AC}"/>
              </a:ext>
            </a:extLst>
          </p:cNvPr>
          <p:cNvSpPr txBox="1"/>
          <p:nvPr/>
        </p:nvSpPr>
        <p:spPr>
          <a:xfrm>
            <a:off x="1076960" y="1299455"/>
            <a:ext cx="10038080" cy="475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Narrow" panose="020B0004020202020204" pitchFamily="34" charset="0"/>
              </a:rPr>
              <a:t>Education</a:t>
            </a:r>
            <a:br>
              <a:rPr lang="en-US" sz="2200" dirty="0">
                <a:latin typeface="Aptos Narrow" panose="020B0004020202020204" pitchFamily="34" charset="0"/>
              </a:rPr>
            </a:br>
            <a:r>
              <a:rPr lang="en-US" sz="2200" dirty="0">
                <a:latin typeface="Aptos Narrow" panose="020B0004020202020204" pitchFamily="34" charset="0"/>
              </a:rPr>
              <a:t>B.Tech Graduate – August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Narrow" panose="020B0004020202020204" pitchFamily="34" charset="0"/>
              </a:rPr>
              <a:t>Core Interests</a:t>
            </a:r>
            <a:br>
              <a:rPr lang="en-US" sz="2200" dirty="0">
                <a:latin typeface="Aptos Narrow" panose="020B0004020202020204" pitchFamily="34" charset="0"/>
              </a:rPr>
            </a:br>
            <a:r>
              <a:rPr lang="en-US" sz="2200" dirty="0">
                <a:latin typeface="Aptos Narrow" panose="020B0004020202020204" pitchFamily="34" charset="0"/>
              </a:rPr>
              <a:t>Machine Learning • Data Analysis • Data Science • Real-world problem solving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 Narrow" panose="020B0004020202020204" pitchFamily="34" charset="0"/>
              </a:rPr>
              <a:t>Motivation</a:t>
            </a:r>
            <a:br>
              <a:rPr lang="en-US" sz="2200" dirty="0">
                <a:latin typeface="Aptos Narrow" panose="020B0004020202020204" pitchFamily="34" charset="0"/>
              </a:rPr>
            </a:br>
            <a:r>
              <a:rPr lang="en-US" sz="2200" dirty="0">
                <a:latin typeface="Aptos Narrow" panose="020B0004020202020204" pitchFamily="34" charset="0"/>
              </a:rPr>
              <a:t>Interested in using data to understand patterns, make predictions, and support smarter decisions in domains like healthcare, finance, and technology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 Narrow" panose="020B0004020202020204" pitchFamily="34" charset="0"/>
              </a:rPr>
              <a:t>Career Goal</a:t>
            </a:r>
            <a:br>
              <a:rPr lang="en-US" sz="2200" dirty="0">
                <a:latin typeface="Aptos Narrow" panose="020B0004020202020204" pitchFamily="34" charset="0"/>
              </a:rPr>
            </a:br>
            <a:r>
              <a:rPr lang="en-US" sz="2200" dirty="0">
                <a:latin typeface="Aptos Narrow" panose="020B0004020202020204" pitchFamily="34" charset="0"/>
              </a:rPr>
              <a:t>Preparing for roles as a Data Scientist / Machine Learning Engineer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CDEED93-1E54-8AAA-689E-7E76A62E948A}"/>
              </a:ext>
            </a:extLst>
          </p:cNvPr>
          <p:cNvSpPr txBox="1"/>
          <p:nvPr/>
        </p:nvSpPr>
        <p:spPr>
          <a:xfrm>
            <a:off x="680720" y="558800"/>
            <a:ext cx="27025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Posterama" panose="020B0504020200020000" pitchFamily="34" charset="0"/>
                <a:ea typeface="Lato Black"/>
                <a:cs typeface="Posterama" panose="020B0504020200020000" pitchFamily="34" charset="0"/>
                <a:sym typeface="Lato Black"/>
              </a:rPr>
              <a:t>About Me</a:t>
            </a:r>
            <a:endParaRPr lang="en-IN" sz="4000" b="1" i="0" u="none" strike="noStrike" cap="none" dirty="0">
              <a:solidFill>
                <a:srgbClr val="FF0000"/>
              </a:solidFill>
              <a:latin typeface="Posterama" panose="020B0504020200020000" pitchFamily="34" charset="0"/>
              <a:ea typeface="Calibri"/>
              <a:cs typeface="Posterama" panose="020B0504020200020000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7062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680720" y="558800"/>
            <a:ext cx="541528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Posterama" panose="020B0504020200020000" pitchFamily="34" charset="0"/>
                <a:ea typeface="Lato Black"/>
                <a:cs typeface="Posterama" panose="020B0504020200020000" pitchFamily="34" charset="0"/>
                <a:sym typeface="Lato Black"/>
              </a:rPr>
              <a:t>Why Data Science?</a:t>
            </a: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76109B4E-5219-2DFF-B7E7-BB2493838EC8}"/>
              </a:ext>
            </a:extLst>
          </p:cNvPr>
          <p:cNvSpPr txBox="1"/>
          <p:nvPr/>
        </p:nvSpPr>
        <p:spPr>
          <a:xfrm>
            <a:off x="1061720" y="1514088"/>
            <a:ext cx="1006856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200" b="1" dirty="0">
                <a:latin typeface="Aptos Narrow" panose="020B0004020202020204" pitchFamily="34" charset="0"/>
              </a:rPr>
              <a:t>Because data explains the world.</a:t>
            </a:r>
          </a:p>
          <a:p>
            <a:pPr marL="285750" lvl="8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Aptos Narrow" panose="020B0004020202020204" pitchFamily="34" charset="0"/>
              </a:rPr>
              <a:t>Every industry today generates massive data</a:t>
            </a:r>
          </a:p>
          <a:p>
            <a:pPr marL="285750" lvl="6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Aptos Narrow" panose="020B0004020202020204" pitchFamily="34" charset="0"/>
              </a:rPr>
              <a:t>Data Science turns raw data into meaningful insights</a:t>
            </a:r>
          </a:p>
          <a:p>
            <a:pPr marL="285750" lvl="6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Aptos Narrow" panose="020B0004020202020204" pitchFamily="34" charset="0"/>
              </a:rPr>
              <a:t>It helps solve real problems — from healthcare trends to fraud detection</a:t>
            </a:r>
          </a:p>
          <a:p>
            <a:pPr marL="285750" lvl="6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Aptos Narrow" panose="020B0004020202020204" pitchFamily="34" charset="0"/>
              </a:rPr>
              <a:t>I enjoy combining statistics, programming, and logic to discover hidden patterns</a:t>
            </a:r>
          </a:p>
          <a:p>
            <a:pPr lvl="1">
              <a:lnSpc>
                <a:spcPct val="150000"/>
              </a:lnSpc>
            </a:pPr>
            <a:endParaRPr lang="en-US" sz="2200" b="1" dirty="0">
              <a:latin typeface="Aptos Narrow" panose="020B00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200" b="1" dirty="0">
                <a:latin typeface="Aptos Narrow" panose="020B0004020202020204" pitchFamily="34" charset="0"/>
              </a:rPr>
              <a:t>My Aim: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ptos Narrow" panose="020B0004020202020204" pitchFamily="34" charset="0"/>
              </a:rPr>
              <a:t>Build data-driven solutions that create measurable impact.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25298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Agenda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432560" y="1625600"/>
            <a:ext cx="9367520" cy="383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Introduction to Project</a:t>
            </a:r>
          </a:p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Dataset Information</a:t>
            </a:r>
          </a:p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Data Cleaning &amp; Preparation</a:t>
            </a:r>
          </a:p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Exploratory Data Analysis</a:t>
            </a:r>
          </a:p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Statistical InsightsKey Findings</a:t>
            </a:r>
          </a:p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Limitations &amp; Future Work</a:t>
            </a:r>
          </a:p>
          <a:p>
            <a:pPr marL="612140" lvl="0" indent="-514350" algn="just">
              <a:buSzPct val="100000"/>
              <a:buFont typeface="+mj-lt"/>
              <a:buAutoNum type="arabicPeriod"/>
            </a:pPr>
            <a:r>
              <a:rPr lang="en-US" dirty="0">
                <a:latin typeface="Aptos Narrow" panose="020B0004020202020204" pitchFamily="34" charset="0"/>
                <a:cs typeface="Posterama" panose="020B0504020200020000" pitchFamily="34" charset="0"/>
              </a:rPr>
              <a:t>Conclusion</a:t>
            </a:r>
            <a:endParaRPr dirty="0">
              <a:latin typeface="Aptos Narrow" panose="020B0004020202020204" pitchFamily="34" charset="0"/>
              <a:cs typeface="Posterama" panose="020B0504020200020000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A275E0-5ADA-1DCA-FFA7-EDFEA4BC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1710172-80B4-7DC7-79A3-5B5B6B5A5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539496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INTRODUCTION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F8988C0-FF9B-A386-A7A6-D8B5F91E8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45920"/>
            <a:ext cx="10078720" cy="395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Cardiovascular disease is the #1 cause of death globally, accounting for ~18 million deaths per year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This project analyzes a Heart Disease Surveillance dataset collected from national healthcare surveys and Medicare-based reporting systems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The goal is to uncover demographic and temporal patterns in heart disease rates across the U.S. population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The main variable of interest is ‘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Data_Value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’ — the measured heart disease rate per demographic group</a:t>
            </a:r>
          </a:p>
        </p:txBody>
      </p:sp>
    </p:spTree>
    <p:extLst>
      <p:ext uri="{BB962C8B-B14F-4D97-AF65-F5344CB8AC3E}">
        <p14:creationId xmlns:p14="http://schemas.microsoft.com/office/powerpoint/2010/main" val="3271562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4D3CFB-3106-1E35-E4C1-ED66302B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971E00-0FBB-86BF-553F-72CAC22AA5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539496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Why This Project?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6835DA0-9C8C-20A5-52A6-BFB9C1E1A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6960" y="1625600"/>
            <a:ext cx="10048240" cy="449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Cardiovascular disease is one of the most critical and well-documented public health crises worldwide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The dataset is publicly available, validated, and widely used in epidemiological research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It allows analysis across multiple dimensions — time, age, gender, race, and disease type — making it ideal for EDA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Findings from this dataset can directly inform targeted public health policies for high-risk populations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Personal interest in applying data science techniques to real-world health problems</a:t>
            </a:r>
          </a:p>
        </p:txBody>
      </p:sp>
    </p:spTree>
    <p:extLst>
      <p:ext uri="{BB962C8B-B14F-4D97-AF65-F5344CB8AC3E}">
        <p14:creationId xmlns:p14="http://schemas.microsoft.com/office/powerpoint/2010/main" val="3012814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2B6845D-B6BA-BB36-A864-1C39DE76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252146E-245D-E534-56CE-5380E8D573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539496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Dataset Information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841CA42-B682-734A-F6C4-C72B6980A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25600"/>
            <a:ext cx="1010920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Name: heart disease surveillance dataset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Source: national healthcare surveys, 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medicare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-based reporting systems (CDC / public health databases)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Format: CSV (tabular)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Size: ~40,000+ rows, 29 columns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Coverage: united states, years 2004–2013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Granularity: population-level aggregates (not individual patient records)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Target variable: 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data_value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 — represents heart disease rate or prevalence</a:t>
            </a:r>
          </a:p>
        </p:txBody>
      </p:sp>
    </p:spTree>
    <p:extLst>
      <p:ext uri="{BB962C8B-B14F-4D97-AF65-F5344CB8AC3E}">
        <p14:creationId xmlns:p14="http://schemas.microsoft.com/office/powerpoint/2010/main" val="129535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527B1F6-0E38-98E7-5C48-99C6F370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6C80BB3-1801-2CBF-ABD5-92B7AC543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539496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Dataset Information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7AEEB66-18EB-ADD2-EB73-61FB9E9E3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25600"/>
            <a:ext cx="1010920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Name: heart disease surveillance dataset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Source: national healthcare surveys, 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medicare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-based reporting systems (CDC / public health databases)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Format: CSV (tabular)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Size: ~40,000+ rows, 29 columns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Coverage: united states, years 2004–2013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Granularity: population-level aggregates (not individual patient records)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Target variable: 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data_value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 — represents heart disease rate or prevalence</a:t>
            </a:r>
          </a:p>
        </p:txBody>
      </p:sp>
    </p:spTree>
    <p:extLst>
      <p:ext uri="{BB962C8B-B14F-4D97-AF65-F5344CB8AC3E}">
        <p14:creationId xmlns:p14="http://schemas.microsoft.com/office/powerpoint/2010/main" val="189705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6050FC5-23CE-EFAD-6FE6-017DB837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090F200-B4BD-38D8-1353-BA7F77D07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Understanding the Dataset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627A52-87DF-7301-8E4C-4A1BB6F8F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58504"/>
              </p:ext>
            </p:extLst>
          </p:nvPr>
        </p:nvGraphicFramePr>
        <p:xfrm>
          <a:off x="701040" y="1518665"/>
          <a:ext cx="6106160" cy="5056001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81121617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166768414"/>
                    </a:ext>
                  </a:extLst>
                </a:gridCol>
                <a:gridCol w="3037840">
                  <a:extLst>
                    <a:ext uri="{9D8B030D-6E8A-4147-A177-3AD203B41FA5}">
                      <a16:colId xmlns:a16="http://schemas.microsoft.com/office/drawing/2014/main" val="1011109713"/>
                    </a:ext>
                  </a:extLst>
                </a:gridCol>
              </a:tblGrid>
              <a:tr h="291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Column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Type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Description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356112001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Year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Integer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Year of observation (2004–2013)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083408884"/>
                  </a:ext>
                </a:extLst>
              </a:tr>
              <a:tr h="362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LocationDesc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String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U.S. state or national level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952346759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Topic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String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Type of cardiovascular disease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879185461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Indicator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String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Measurement type (mortality, hospitalization, prevalence)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157585031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Break_Out_Category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String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Demographic category — Age, Gender, Race, Overall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840205205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Break_Out</a:t>
                      </a:r>
                      <a:endParaRPr lang="en-IN" sz="1600" dirty="0">
                        <a:latin typeface="Aptos Narrow" panose="020B0004020202020204" pitchFamily="34" charset="0"/>
                        <a:cs typeface="Posterama" panose="020B0504020200020000" pitchFamily="34" charset="0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String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Specific group within the category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170410533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Data_Value ⭐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Float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Heart disease rate — main target variable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983384584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LowConfidenceLimit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Float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Lower bound of 95% confidence interval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03894246"/>
                  </a:ext>
                </a:extLst>
              </a:tr>
              <a:tr h="51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HighConfidenceLimit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Float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Upper bound of 95% confidence interval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01212546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46BCBD-8FC6-B1F4-C748-BF319BE79778}"/>
              </a:ext>
            </a:extLst>
          </p:cNvPr>
          <p:cNvSpPr txBox="1">
            <a:spLocks/>
          </p:cNvSpPr>
          <p:nvPr/>
        </p:nvSpPr>
        <p:spPr>
          <a:xfrm>
            <a:off x="6878320" y="2714844"/>
            <a:ext cx="4712578" cy="14283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US" sz="2000" dirty="0">
                <a:latin typeface="Aptos Narrow" panose="020B0004020202020204" pitchFamily="34" charset="0"/>
                <a:cs typeface="Posterama" panose="020B0504020200020000" pitchFamily="34" charset="0"/>
              </a:rPr>
              <a:t>Each row represents one measurement for a specific year, location, demographic group, and disease type</a:t>
            </a:r>
          </a:p>
          <a:p>
            <a:pPr algn="just"/>
            <a:r>
              <a:rPr lang="en-US" sz="2000" dirty="0">
                <a:latin typeface="Aptos Narrow" panose="020B0004020202020204" pitchFamily="34" charset="0"/>
                <a:cs typeface="Posterama" panose="020B0504020200020000" pitchFamily="34" charset="0"/>
              </a:rPr>
              <a:t>Initial shape: 42,640 rows × 29 columns</a:t>
            </a:r>
          </a:p>
        </p:txBody>
      </p:sp>
    </p:spTree>
    <p:extLst>
      <p:ext uri="{BB962C8B-B14F-4D97-AF65-F5344CB8AC3E}">
        <p14:creationId xmlns:p14="http://schemas.microsoft.com/office/powerpoint/2010/main" val="327560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51BD3BD-5C77-DF87-A4A2-4C9FE4A9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B6E6FD2-8AA3-86E5-5ECA-3245FF5F30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902208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Data Cleaning &amp; Preparation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5D47902-5E30-206C-7AAE-424789B5C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25600"/>
            <a:ext cx="1010920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7790" indent="0" algn="just">
              <a:buSzPct val="100000"/>
              <a:buNone/>
            </a:pP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Missing Values: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‘PriorityArea2’ &amp; ‘PriorityArea4’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100% missing → dropped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‘PriorityArea1’ &amp; ‘PriorityArea3’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78% and 65% missing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, no impact on analysis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dropped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‘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Data_Value_Footnote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’ &amp; ‘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Footnote_Symbol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’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98.8% missing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, just explanatory notes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dropped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‘</a:t>
            </a:r>
            <a:r>
              <a:rPr lang="en-US" sz="2400" dirty="0" err="1">
                <a:latin typeface="Aptos Narrow" panose="020B0004020202020204" pitchFamily="34" charset="0"/>
                <a:cs typeface="Posterama" panose="020B0504020200020000" pitchFamily="34" charset="0"/>
              </a:rPr>
              <a:t>Data_Value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’ → 529 rows (1.2%) missing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rows removed 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(cannot estimate main variable)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‘Geolocation’ → 820 rows missing only for US national-level records → </a:t>
            </a: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retained </a:t>
            </a: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(structural missingness, not a data error)</a:t>
            </a:r>
          </a:p>
        </p:txBody>
      </p:sp>
    </p:spTree>
    <p:extLst>
      <p:ext uri="{BB962C8B-B14F-4D97-AF65-F5344CB8AC3E}">
        <p14:creationId xmlns:p14="http://schemas.microsoft.com/office/powerpoint/2010/main" val="310030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7BD9C6A-FE83-EB12-4397-1B900C13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94203F5-3C5E-64CA-9997-2D4425A07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902208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Data Cleaning &amp; Preparation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02B3428-9F92-DCEB-BF61-05F724AE4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25600"/>
            <a:ext cx="1010920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Duplicates: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Posterama" panose="020B0504020200020000" pitchFamily="34" charset="0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Duplicated().Sum() = 0 →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no duplicates found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Outliers: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Posterama" panose="020B0504020200020000" pitchFamily="34" charset="0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Detected using boxplot and 99th percentile method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High values found for elderly and certain racial groups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Retained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— medically realistic, represent real high-risk populations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Class Imbalance: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Posterama" panose="020B0504020200020000" pitchFamily="34" charset="0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Some demographic groups and disease types appear more than others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Posterama" panose="020B0504020200020000" pitchFamily="34" charset="0"/>
              </a:rPr>
              <a:t>Reflects real-world population statistics, not sampling bias — expected and meaningful</a:t>
            </a:r>
          </a:p>
        </p:txBody>
      </p:sp>
    </p:spTree>
    <p:extLst>
      <p:ext uri="{BB962C8B-B14F-4D97-AF65-F5344CB8AC3E}">
        <p14:creationId xmlns:p14="http://schemas.microsoft.com/office/powerpoint/2010/main" val="1821049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84ADEAD-55A0-3F75-2726-56C3C62C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CB3677F-5E13-6405-BC7F-944D23CBB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Univariate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D3078C1-B8CF-B957-33AF-7DC2BB23C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25600"/>
            <a:ext cx="503936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buNone/>
            </a:pPr>
            <a:r>
              <a:rPr lang="en-US" sz="2200" b="1" dirty="0" err="1">
                <a:latin typeface="Aptos Narrow" panose="020B0004020202020204" pitchFamily="34" charset="0"/>
                <a:cs typeface="Posterama" panose="020B0504020200020000" pitchFamily="34" charset="0"/>
              </a:rPr>
              <a:t>Data_Value</a:t>
            </a:r>
            <a:r>
              <a:rPr lang="en-US" sz="2200" b="1" dirty="0">
                <a:latin typeface="Aptos Narrow" panose="020B0004020202020204" pitchFamily="34" charset="0"/>
                <a:cs typeface="Posterama" panose="020B0504020200020000" pitchFamily="34" charset="0"/>
              </a:rPr>
              <a:t> Distribution: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Distribution is right-skewed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Majority of values fall between 0–30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Extreme values exist up to ~95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Extreme values correspond to hospitalization rates in elderly populations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Skewness indicates most groups have moderate rates, but a few have very high disease burden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D9CE0C-7BD6-23E4-9C05-017CA99B1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41" y="1728787"/>
            <a:ext cx="511048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75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598A889-82F1-A52C-F1FF-16D06030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E9C6D0A-D104-0ABE-C864-5BEB4D97F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Univariate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2A7B546-E420-4344-CD45-9D5FA53A3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625600"/>
            <a:ext cx="503936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buNone/>
            </a:pPr>
            <a:r>
              <a:rPr lang="en-US" sz="2200" b="1" dirty="0">
                <a:latin typeface="Aptos Narrow" panose="020B0004020202020204" pitchFamily="34" charset="0"/>
                <a:cs typeface="Posterama" panose="020B0504020200020000" pitchFamily="34" charset="0"/>
              </a:rPr>
              <a:t>Topic Distribution:</a:t>
            </a:r>
          </a:p>
          <a:p>
            <a:pPr marL="342900"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Major Cardiovascular Disease — most frequent</a:t>
            </a:r>
          </a:p>
          <a:p>
            <a:pPr marL="342900"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Heart Failure — second most frequent</a:t>
            </a:r>
          </a:p>
          <a:p>
            <a:pPr marL="342900"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Diseases of the Heart, Coronary Heart Disease, Stroke also present</a:t>
            </a:r>
          </a:p>
          <a:p>
            <a:pPr marL="342900" algn="just"/>
            <a:r>
              <a:rPr lang="en-US" sz="2200" dirty="0">
                <a:latin typeface="Aptos Narrow" panose="020B0004020202020204" pitchFamily="34" charset="0"/>
                <a:cs typeface="Posterama" panose="020B0504020200020000" pitchFamily="34" charset="0"/>
              </a:rPr>
              <a:t>Dataset heavily focused on cardiovascular conditions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E1F133-4C79-6938-1733-6D1658A831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34773" y="1249680"/>
            <a:ext cx="3900587" cy="486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1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B95A845-6494-8865-9328-040ACCF2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296D936-0C69-2FCF-0288-63272653F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Univariate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5E77769-1299-46F9-494F-12172D0FF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478280"/>
            <a:ext cx="5039360" cy="195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Break_Out_Category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 Distribution: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Age, Gender, Race, Overall — roughly balanced across categories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Confirms dataset is structured for multi-demographic comparison</a:t>
            </a:r>
          </a:p>
        </p:txBody>
      </p:sp>
      <p:sp>
        <p:nvSpPr>
          <p:cNvPr id="3" name="Google Shape;111;p4">
            <a:extLst>
              <a:ext uri="{FF2B5EF4-FFF2-40B4-BE49-F238E27FC236}">
                <a16:creationId xmlns:a16="http://schemas.microsoft.com/office/drawing/2014/main" id="{8BA217CF-8799-8BE2-1234-97A23D446249}"/>
              </a:ext>
            </a:extLst>
          </p:cNvPr>
          <p:cNvSpPr txBox="1">
            <a:spLocks/>
          </p:cNvSpPr>
          <p:nvPr/>
        </p:nvSpPr>
        <p:spPr>
          <a:xfrm>
            <a:off x="6096000" y="1478280"/>
            <a:ext cx="5039360" cy="195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Year Distribution: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Data spans 2004–2013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Records fairly consistent across years, enabling time-series trend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D1102-5A3D-501A-A4AA-97FA505C9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8" r="1935" b="6730"/>
          <a:stretch>
            <a:fillRect/>
          </a:stretch>
        </p:blipFill>
        <p:spPr>
          <a:xfrm>
            <a:off x="1818525" y="3429000"/>
            <a:ext cx="3273136" cy="3258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ECCE7C-264F-0491-8432-1FAB28B21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" r="-392" b="780"/>
          <a:stretch>
            <a:fillRect/>
          </a:stretch>
        </p:blipFill>
        <p:spPr>
          <a:xfrm>
            <a:off x="6936740" y="3037708"/>
            <a:ext cx="3855027" cy="323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27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6B9BFCB-7148-9AC6-61BC-9CEF987D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AE24CC0-0B88-91D4-9E18-6BA428E16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Bivariate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440DDDE-BE69-6852-7752-8C1722940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2065971"/>
            <a:ext cx="5039360" cy="283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Year vs Heart Disease Rate: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Highest average rate in 2004 (~17)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Gradual decline to ~13.5 by 2013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Clear decreasing trend — likely due to improved healthcare, awareness programs, and preventive treatments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B3E8C2-EA4B-E5DE-C68A-E192FFBA2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04145" y="1249680"/>
            <a:ext cx="413121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68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E91CBC4-445B-55DF-D212-91469A61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2C73D2E-AA76-80BE-9E0A-C583C3F791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Bivariate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DF518C8-675E-6105-E4DC-2DDE82D34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2011681"/>
            <a:ext cx="5039360" cy="287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buNone/>
            </a:pPr>
            <a:r>
              <a:rPr lang="en-US" sz="2200" b="1" dirty="0">
                <a:latin typeface="Aptos Narrow" panose="020B0004020202020204" pitchFamily="34" charset="0"/>
              </a:rPr>
              <a:t>Gender vs Heart Disease:</a:t>
            </a:r>
            <a:endParaRPr lang="en-US" sz="2200" dirty="0">
              <a:latin typeface="Aptos Narrow" panose="020B00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Male → 16.90 average rate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Female → 13.61 average rate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Males have significantly higher rates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Reasons: higher lifestyle risk exposure, biological factors, delayed care-seeking behavior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FF9214-BB2F-1D04-05A8-6BBD9477A6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44590" y="1249680"/>
            <a:ext cx="479077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50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85FDCAE-77F2-6C24-DA7A-D36D9C67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FB1F1D7-6A5D-C150-5CA9-60B8E77A5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Bivariate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7CF4F32-C433-C4CA-5993-925CE7F0B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991361"/>
            <a:ext cx="5039360" cy="287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US" sz="2200" b="1" dirty="0">
                <a:latin typeface="Aptos Narrow" panose="020B0004020202020204" pitchFamily="34" charset="0"/>
              </a:rPr>
              <a:t>Age vs Heart Disease:</a:t>
            </a:r>
            <a:endParaRPr lang="en-US" sz="2200" dirty="0">
              <a:latin typeface="Aptos Narrow" panose="020B00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Risk increases consistently with age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75+ group shows highest average rate (10.26)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65–74 group second highest (9.78)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Consistent with established medical evidence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94C17D-50C3-7F95-5F7C-E3728BF08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0164" y="1249680"/>
            <a:ext cx="5005196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45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56ECAA6-2114-BDAC-FF48-4C50454D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11E0D7A-317F-6781-0C20-4474BF414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Bivariate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9276E80-2948-16D6-A1D3-8A283D4D3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911729"/>
            <a:ext cx="5039360" cy="3253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Race vs Heart Disease: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Non-Hispanic Black → 18.71 (Highest)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Hispanic → 16.01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Non-Hispanic White → 14.61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Other → 14.58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Significant racial disparities exist — major public health observation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0739A9-7D54-357B-E0FA-5B400DB2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911728"/>
            <a:ext cx="5110480" cy="325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73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08D6856-F0EE-F16C-7AE3-C3727343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1CBAB59-A938-FAF5-265F-9BF2DFA5C7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Bivariate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B213D48-95EF-45E9-0AA1-DF3EDF1AA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960881"/>
            <a:ext cx="5039360" cy="293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Topic vs Heart Disease Rate: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Major Cardiovascular Disease → 23.84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Heart Failure → 19.43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Diseases of the Heart → 17.76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Coronary Heart Disease → 6.54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Stroke → 3.91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01C76D-939F-6E41-AA3C-CDDF08F4FD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91121" y="1282348"/>
            <a:ext cx="3444240" cy="464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5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CCF373B-EB8C-E143-7163-0FEC56EF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2C0B2D2-5090-AF0B-BE9F-03AA6DA85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Multivariate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E3B52AD-0AD2-5EEB-E3F1-2612A66C5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991361"/>
            <a:ext cx="5039360" cy="286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Gender Trend Over Time: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Both male and female rates decline from 2004–2013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Males consistently remain higher throughout all years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Gender disparity persists even as overall rates improve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A35935-B444-192C-4537-4ABD9A0B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1441" y="1744993"/>
            <a:ext cx="4693919" cy="404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55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19DCDFC-9BCA-64EF-37BB-1812F1B0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CA07450-D4C8-3D67-A9FC-863636F91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Multivariate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48D733D-6345-4D65-FAB1-EAA5207E8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1760" y="1981201"/>
            <a:ext cx="5110480" cy="290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US" sz="2200" b="1" dirty="0">
                <a:latin typeface="Aptos Narrow" panose="020B0004020202020204" pitchFamily="34" charset="0"/>
              </a:rPr>
              <a:t>Topic vs Race Heatmap:</a:t>
            </a:r>
            <a:endParaRPr lang="en-US" sz="2200" dirty="0">
              <a:latin typeface="Aptos Narrow" panose="020B00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Certain races show higher burden for specific disease types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Non-Hispanic Black population shows elevated rates especially for heart failure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ptos Narrow" panose="020B0004020202020204" pitchFamily="34" charset="0"/>
              </a:rPr>
              <a:t>Highlights inequality patterns across disease categories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AFA677-E687-B250-F2BA-49D35FCDCC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5520" y="2071002"/>
            <a:ext cx="5110480" cy="36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83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BC0A1A5-3384-9B23-E635-3851E264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2AD288C-5A4F-91BC-9E4C-3712AB1E2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Multivariate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C8354B6-8225-5E2C-FE9C-6EF79DBB3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71920" y="2021524"/>
            <a:ext cx="5039360" cy="2814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Age + Disease Type Interaction: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Heart failure hospitalization increases dramatically for the 75+ age group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Younger age groups show much lower rates across all disease types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Age is a strong predictor of disease severity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482707-CBED-ACAE-BD5D-32856727A2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040" y="1848804"/>
            <a:ext cx="5394960" cy="319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96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AF2DA44-A482-2701-AC82-B19BEC04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0C36FFF-3AB0-0289-9074-DC69611BCE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721360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EDA: Multivariate Analysis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C6B71A7C-3CCF-1BF5-2F82-999094D17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5039360" cy="37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Year + Topic Trend: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Major CVD shows gradual decline over years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Stroke shows smaller variation — more stable across years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Heart failure remains relatively high throughout the period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Some diseases are improving faster than others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694AA8-B933-2AC2-05A4-161A501D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1761" y="2006414"/>
            <a:ext cx="4866639" cy="284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54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C305BE6-53FB-9A1E-E207-C0E41C23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5F5F5D9-7002-1AF8-9F50-1AFEAF8654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Year vs Heart Disease Rate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052373F-A2AA-7D39-BFFD-2608413F3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5039360" cy="37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Average heart disease rate declined from ~17 in 2004 → ~13.5 in 2013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Consistent downward trend across years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Shows improvement in cardiovascular healthcare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D3F146-11A2-EFFA-FE5A-3F4FDFA00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88460"/>
              </p:ext>
            </p:extLst>
          </p:nvPr>
        </p:nvGraphicFramePr>
        <p:xfrm>
          <a:off x="8554720" y="1432406"/>
          <a:ext cx="2316480" cy="399318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680413">
                  <a:extLst>
                    <a:ext uri="{9D8B030D-6E8A-4147-A177-3AD203B41FA5}">
                      <a16:colId xmlns:a16="http://schemas.microsoft.com/office/drawing/2014/main" val="2813444619"/>
                    </a:ext>
                  </a:extLst>
                </a:gridCol>
                <a:gridCol w="1636067">
                  <a:extLst>
                    <a:ext uri="{9D8B030D-6E8A-4147-A177-3AD203B41FA5}">
                      <a16:colId xmlns:a16="http://schemas.microsoft.com/office/drawing/2014/main" val="337114056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effectLst/>
                        </a:rPr>
                        <a:t>Data_Value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7157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Year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1742094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2004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17.042388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3338848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2005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16.181479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72451076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2006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16.075450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1094785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2007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14.699738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2899865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2008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14.030495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3237463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2009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14.080408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0866713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14.061923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41526783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14.247708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89255223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2012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13.827335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87497856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2013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13.564265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755502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3F119E6-630C-E7E3-2084-D6FCB989A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878" y="3911600"/>
            <a:ext cx="3292243" cy="258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13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686335-B1F8-9A5C-3D0C-8C4ACB4D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3282355-EA8A-14E2-46E5-51A27CBD7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Gender vs Heart Disease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913C74F-2562-54D0-E14F-DD3F98CDE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5039360" cy="234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Male average rate →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16.9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Female average rate →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13.6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Males consistently show higher disease risk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51AF72-C360-0E5D-5654-F9FDFDAD8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136719"/>
              </p:ext>
            </p:extLst>
          </p:nvPr>
        </p:nvGraphicFramePr>
        <p:xfrm>
          <a:off x="8036560" y="1432406"/>
          <a:ext cx="2834640" cy="137353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813444619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337114056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effectLst/>
                        </a:rPr>
                        <a:t>Data_Value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7157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 err="1">
                          <a:effectLst/>
                        </a:rPr>
                        <a:t>Break_Out</a:t>
                      </a: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1742094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 dirty="0">
                          <a:effectLst/>
                        </a:rPr>
                        <a:t>Female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13.610365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3338848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 dirty="0">
                          <a:effectLst/>
                        </a:rPr>
                        <a:t>Male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16.903769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7245107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653D95F-63B4-AFF9-D7D4-215F201BE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87137" y="3449320"/>
            <a:ext cx="3817725" cy="307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65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F19C75A-494F-92A5-0D4D-221FA867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C9ECE6B-8F81-AAC6-8129-B914BC30B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Age Group vs Heart Disease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35F4B4D-253B-CF31-7929-11EE8EAB2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5039360" cy="24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Risk increases with age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75+ age group → highest rate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Elderly populations need regular screening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E6C177-441C-8CB6-EA6A-444EC24D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7243" y="3429000"/>
            <a:ext cx="3817725" cy="307181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362178-8FE8-95EF-CFEE-8A2033BA6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586928"/>
              </p:ext>
            </p:extLst>
          </p:nvPr>
        </p:nvGraphicFramePr>
        <p:xfrm>
          <a:off x="8036560" y="1432406"/>
          <a:ext cx="2834640" cy="137353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813444619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337114056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effectLst/>
                        </a:rPr>
                        <a:t>Data_Value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7157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 err="1">
                          <a:effectLst/>
                        </a:rPr>
                        <a:t>Break_Out</a:t>
                      </a: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1742094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65+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9.776603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3338848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75+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10.264519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72451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887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487D35E-515D-0DC2-BFF2-AEA71ADE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EF622C0-6A94-C670-2516-86C90C7B2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Race vs Heart Disease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89F2686-ABFE-7083-25F3-B7EF6CA53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5770880" cy="24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Non-Hispanic Black population → highest rate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Shows significant racial health disparities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Indicates need for targeted healthcare programs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9CBE3-D3B3-1126-4916-255862A61E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4480" y="3321494"/>
            <a:ext cx="3360159" cy="317931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825516-943A-148B-CAC5-3CC405F5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156582"/>
              </p:ext>
            </p:extLst>
          </p:nvPr>
        </p:nvGraphicFramePr>
        <p:xfrm>
          <a:off x="7874000" y="1432406"/>
          <a:ext cx="2997200" cy="234889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813444619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337114056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effectLst/>
                        </a:rPr>
                        <a:t>Data_Value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7157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 err="1">
                          <a:effectLst/>
                        </a:rPr>
                        <a:t>Break_Out</a:t>
                      </a: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1742094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Hispanic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16.011383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3338848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 dirty="0">
                          <a:effectLst/>
                        </a:rPr>
                        <a:t>Non-Hispanic Black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18.706664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72451076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Non-Hispanic White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14.611481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43732499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Other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14.585802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915598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58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6B29B23-E629-2AD1-1094-108211FE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7848ECC-C889-B57A-B2FA-3E25AB254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Age Group vs Heart Disease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236062E-A66B-39D7-7CF3-2F6336FE2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5039360" cy="185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Major CVD → highest rate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Heart Failure → second highest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Stroke &amp; CHD → lower rates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18171-BF56-3F53-3CF6-08043E090F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70289" y="3281680"/>
            <a:ext cx="3407122" cy="321913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7F446C-369F-1C09-B168-7B6385339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273393"/>
              </p:ext>
            </p:extLst>
          </p:nvPr>
        </p:nvGraphicFramePr>
        <p:xfrm>
          <a:off x="7884160" y="1432406"/>
          <a:ext cx="3352800" cy="316402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43760">
                  <a:extLst>
                    <a:ext uri="{9D8B030D-6E8A-4147-A177-3AD203B41FA5}">
                      <a16:colId xmlns:a16="http://schemas.microsoft.com/office/drawing/2014/main" val="2813444619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337114056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effectLst/>
                        </a:rPr>
                        <a:t>Data_Value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7157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Topic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1742094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Major Cardiovascular Disease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23.837062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33388481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Heart Failure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19.430285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72451076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0">
                          <a:effectLst/>
                        </a:rPr>
                        <a:t>Diseases of the Heart (Heart Disease)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17.756052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41198642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Coronary Heart Disease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6.544387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844605537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0">
                          <a:effectLst/>
                        </a:rPr>
                        <a:t>Stroke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3.911025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31550783"/>
                  </a:ext>
                </a:extLst>
              </a:tr>
              <a:tr h="3274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0">
                          <a:effectLst/>
                        </a:rPr>
                        <a:t>Acute Myocardial Infarction (Heart Attack)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2.873127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36825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23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44AC39A-C53C-0D69-6D3D-8F81ECC9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0E04841-5208-9CB9-CEE0-558F98CC8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Topic vs Year Trend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CDBCD29-92F4-BE6A-0E90-D904B9E37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0" y="1569720"/>
            <a:ext cx="3251200" cy="185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Major cardiovascular disease shows gradual decline.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Stroke shows smaller variation.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Heart failure remains relatively high.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A8D06B-0A5E-897A-D181-BD3F0998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38376"/>
              </p:ext>
            </p:extLst>
          </p:nvPr>
        </p:nvGraphicFramePr>
        <p:xfrm>
          <a:off x="4131278" y="1569720"/>
          <a:ext cx="7380002" cy="41452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76398">
                  <a:extLst>
                    <a:ext uri="{9D8B030D-6E8A-4147-A177-3AD203B41FA5}">
                      <a16:colId xmlns:a16="http://schemas.microsoft.com/office/drawing/2014/main" val="1628975727"/>
                    </a:ext>
                  </a:extLst>
                </a:gridCol>
                <a:gridCol w="1133934">
                  <a:extLst>
                    <a:ext uri="{9D8B030D-6E8A-4147-A177-3AD203B41FA5}">
                      <a16:colId xmlns:a16="http://schemas.microsoft.com/office/drawing/2014/main" val="3204658343"/>
                    </a:ext>
                  </a:extLst>
                </a:gridCol>
                <a:gridCol w="1133934">
                  <a:extLst>
                    <a:ext uri="{9D8B030D-6E8A-4147-A177-3AD203B41FA5}">
                      <a16:colId xmlns:a16="http://schemas.microsoft.com/office/drawing/2014/main" val="419496077"/>
                    </a:ext>
                  </a:extLst>
                </a:gridCol>
                <a:gridCol w="1133934">
                  <a:extLst>
                    <a:ext uri="{9D8B030D-6E8A-4147-A177-3AD203B41FA5}">
                      <a16:colId xmlns:a16="http://schemas.microsoft.com/office/drawing/2014/main" val="4091445718"/>
                    </a:ext>
                  </a:extLst>
                </a:gridCol>
                <a:gridCol w="1133934">
                  <a:extLst>
                    <a:ext uri="{9D8B030D-6E8A-4147-A177-3AD203B41FA5}">
                      <a16:colId xmlns:a16="http://schemas.microsoft.com/office/drawing/2014/main" val="1015561707"/>
                    </a:ext>
                  </a:extLst>
                </a:gridCol>
                <a:gridCol w="1133934">
                  <a:extLst>
                    <a:ext uri="{9D8B030D-6E8A-4147-A177-3AD203B41FA5}">
                      <a16:colId xmlns:a16="http://schemas.microsoft.com/office/drawing/2014/main" val="1256682811"/>
                    </a:ext>
                  </a:extLst>
                </a:gridCol>
                <a:gridCol w="1133934">
                  <a:extLst>
                    <a:ext uri="{9D8B030D-6E8A-4147-A177-3AD203B41FA5}">
                      <a16:colId xmlns:a16="http://schemas.microsoft.com/office/drawing/2014/main" val="2846122662"/>
                    </a:ext>
                  </a:extLst>
                </a:gridCol>
              </a:tblGrid>
              <a:tr h="67772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>
                          <a:effectLst/>
                        </a:rPr>
                        <a:t>Topic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Acute Myocardial Infarction (Heart Attack)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dirty="0">
                          <a:effectLst/>
                        </a:rPr>
                        <a:t>Coronary Heart Disease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Diseases of the Heart (Heart Disease)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>
                          <a:effectLst/>
                        </a:rPr>
                        <a:t>Heart Failure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dirty="0">
                          <a:effectLst/>
                        </a:rPr>
                        <a:t>Major Cardiovascular Disease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>
                          <a:effectLst/>
                        </a:rPr>
                        <a:t>Stroke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87585896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>
                          <a:effectLst/>
                        </a:rPr>
                        <a:t>Year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711541199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2004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3.228017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8.519658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20.185897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22.724826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26.305769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3.973002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611539732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2005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2.983224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7.892241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19.237901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21.479905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25.213062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3.797624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965207273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2006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2.785466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7.395064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18.753632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21.685216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24.752137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3.725910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644066686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2007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2.805640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7.116274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18.330128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18.867272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24.502991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3.847323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98481605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2008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2.778308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6.626496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17.640385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17.903682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23.595085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3.768817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45012084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2009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2.737229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6.067167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17.333691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18.232080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23.392275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3.857143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76311814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2.772786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5.853433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17.024839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18.370048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23.083761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3.956438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71042604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2.785097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5.462876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16.416239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19.159617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22.557051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4.017241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89349756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2012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2.861039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5.338362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16.421581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18.179514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22.541026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4.022511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719503392"/>
                  </a:ext>
                </a:extLst>
              </a:tr>
              <a:tr h="2651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b="0">
                          <a:effectLst/>
                        </a:rPr>
                        <a:t>2013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2.993506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5.156897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16.216026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17.705319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22.425482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4.145591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0935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106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EAE013-47CB-8BD2-8C5A-0A46A0BC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C20DA5B-9B91-6440-B861-F66C3E8F42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Table: Location vs Disease Rate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D02F987-447D-2AF6-90A4-28891F0B9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640" y="1569720"/>
            <a:ext cx="3241040" cy="376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Some states show higher heart disease rates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Geographic inequality exists</a:t>
            </a:r>
          </a:p>
          <a:p>
            <a:pPr indent="-457200" algn="just">
              <a:spcBef>
                <a:spcPts val="1400"/>
              </a:spcBef>
              <a:buClr>
                <a:srgbClr val="000000"/>
              </a:buClr>
              <a:buSzPct val="80000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Important for state-level health policy planning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90B8B-630F-381E-F754-7881982D0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044" y="1569720"/>
            <a:ext cx="6710805" cy="376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86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99CF326-A84A-A7DF-ADA7-D6883734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FB58699-1A37-BABA-935E-F519C7C50C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Pivot Tables Insights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7D58471-9FAA-DF0F-EAAC-5E5A899DA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30240" y="1595944"/>
            <a:ext cx="578104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97790" indent="0" algn="just">
              <a:buSzPct val="100000"/>
              <a:buNone/>
            </a:pPr>
            <a:r>
              <a:rPr lang="en-US" sz="2400" b="1" dirty="0">
                <a:latin typeface="Aptos Narrow" panose="020B0004020202020204" pitchFamily="34" charset="0"/>
                <a:cs typeface="Posterama" panose="020B0504020200020000" pitchFamily="34" charset="0"/>
              </a:rPr>
              <a:t>Key Takeaways: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Heart disease rates decreased steadily from 2004 to 2013 — indicating healthcare progress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Males consistently show higher rates than females across all disease types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Elderly populations carry the highest risk burden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Non-Hispanic Black populations show disproportionately high disease rates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Heart failure and Major CVD are the most critical disease categories</a:t>
            </a:r>
          </a:p>
          <a:p>
            <a:pPr marL="612140" indent="-514350" algn="just">
              <a:buSzPct val="100000"/>
            </a:pPr>
            <a:r>
              <a:rPr lang="en-US" sz="2400" dirty="0">
                <a:latin typeface="Aptos Narrow" panose="020B0004020202020204" pitchFamily="34" charset="0"/>
                <a:cs typeface="Posterama" panose="020B0504020200020000" pitchFamily="34" charset="0"/>
              </a:rPr>
              <a:t>Geographic inequality exists — some states show significantly higher disease burden</a:t>
            </a: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8A414AF9-AC54-B3A6-BFC4-D90405CDE9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228812"/>
              </p:ext>
            </p:extLst>
          </p:nvPr>
        </p:nvGraphicFramePr>
        <p:xfrm>
          <a:off x="1016000" y="1249680"/>
          <a:ext cx="4306887" cy="544487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35629">
                  <a:extLst>
                    <a:ext uri="{9D8B030D-6E8A-4147-A177-3AD203B41FA5}">
                      <a16:colId xmlns:a16="http://schemas.microsoft.com/office/drawing/2014/main" val="1499871978"/>
                    </a:ext>
                  </a:extLst>
                </a:gridCol>
                <a:gridCol w="1435629">
                  <a:extLst>
                    <a:ext uri="{9D8B030D-6E8A-4147-A177-3AD203B41FA5}">
                      <a16:colId xmlns:a16="http://schemas.microsoft.com/office/drawing/2014/main" val="378089474"/>
                    </a:ext>
                  </a:extLst>
                </a:gridCol>
                <a:gridCol w="1435629">
                  <a:extLst>
                    <a:ext uri="{9D8B030D-6E8A-4147-A177-3AD203B41FA5}">
                      <a16:colId xmlns:a16="http://schemas.microsoft.com/office/drawing/2014/main" val="275617571"/>
                    </a:ext>
                  </a:extLst>
                </a:gridCol>
              </a:tblGrid>
              <a:tr h="414166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Pivot Table Summaries</a:t>
                      </a:r>
                    </a:p>
                  </a:txBody>
                  <a:tcPr marL="40096" marR="40096" marT="20048" marB="20048"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marL="40096" marR="40096" marT="20048" marB="20048"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1281076228"/>
                  </a:ext>
                </a:extLst>
              </a:tr>
              <a:tr h="41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Dimension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Group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 err="1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Avg</a:t>
                      </a:r>
                      <a:r>
                        <a:rPr lang="en-IN" sz="2000" b="1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 Rate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3839942084"/>
                  </a:ext>
                </a:extLst>
              </a:tr>
              <a:tr h="41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Gender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Male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16.90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1790028716"/>
                  </a:ext>
                </a:extLst>
              </a:tr>
              <a:tr h="41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Gender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Female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13.61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2836760639"/>
                  </a:ext>
                </a:extLst>
              </a:tr>
              <a:tr h="935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Race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Non-Hispanic Black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18.71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4346233"/>
                  </a:ext>
                </a:extLst>
              </a:tr>
              <a:tr h="41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Race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Hispanic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16.01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1339285449"/>
                  </a:ext>
                </a:extLst>
              </a:tr>
              <a:tr h="935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Race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Non-Hispanic White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14.61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1541476619"/>
                  </a:ext>
                </a:extLst>
              </a:tr>
              <a:tr h="41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Age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75+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10.26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1757440151"/>
                  </a:ext>
                </a:extLst>
              </a:tr>
              <a:tr h="41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Topic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Major CVD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23.84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1714340184"/>
                  </a:ext>
                </a:extLst>
              </a:tr>
              <a:tr h="636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Topic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Heart Failure</a:t>
                      </a:r>
                    </a:p>
                  </a:txBody>
                  <a:tcPr marL="40096" marR="40096" marT="20048" marB="2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ptos Narrow" panose="020B0004020202020204" pitchFamily="34" charset="0"/>
                          <a:cs typeface="Posterama" panose="020B0504020200020000" pitchFamily="34" charset="0"/>
                        </a:rPr>
                        <a:t>19.43</a:t>
                      </a:r>
                    </a:p>
                  </a:txBody>
                  <a:tcPr marL="40096" marR="40096" marT="20048" marB="20048" anchor="ctr"/>
                </a:tc>
                <a:extLst>
                  <a:ext uri="{0D108BD9-81ED-4DB2-BD59-A6C34878D82A}">
                    <a16:rowId xmlns:a16="http://schemas.microsoft.com/office/drawing/2014/main" val="2250032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41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F1E18C4-E66D-0404-9F28-2091AB12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DDE65A7-E098-BDEA-C0D1-B90378A6E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Key Insights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09A98A7-20F8-6C81-A819-58677DE182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3910383"/>
              </p:ext>
            </p:extLst>
          </p:nvPr>
        </p:nvGraphicFramePr>
        <p:xfrm>
          <a:off x="854364" y="1602970"/>
          <a:ext cx="5079076" cy="4873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9E53166-B8A4-8ADD-DE81-0BD906911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6283132"/>
              </p:ext>
            </p:extLst>
          </p:nvPr>
        </p:nvGraphicFramePr>
        <p:xfrm>
          <a:off x="6331521" y="1602970"/>
          <a:ext cx="5006115" cy="3865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826270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144F0AC-269B-7C6D-5DF0-19945DEF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663D6DB-E840-EF3A-2E43-BD2B25DB1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040" y="587632"/>
            <a:ext cx="10810240" cy="6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Conclusion</a:t>
            </a:r>
            <a:endParaRPr b="1" dirty="0">
              <a:solidFill>
                <a:srgbClr val="FF0000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0EBD9D0-6C90-55DB-9762-634A18D91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9040" y="1595944"/>
            <a:ext cx="5222240" cy="395141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sz="2200" dirty="0">
                <a:latin typeface="Aptos Narrow" panose="020B0004020202020204" pitchFamily="34" charset="0"/>
              </a:rPr>
              <a:t>Encouragingly, heart disease rates showed a clear declining trend from 2004 to 2013, indicating progress in healthcare, awareness, and prevention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</a:rPr>
              <a:t>These findings emphasize the need for targeted public health programs focused on high-risk demographic groups</a:t>
            </a:r>
          </a:p>
          <a:p>
            <a:pPr algn="just"/>
            <a:r>
              <a:rPr lang="en-US" sz="2200" dirty="0">
                <a:latin typeface="Aptos Narrow" panose="020B0004020202020204" pitchFamily="34" charset="0"/>
              </a:rPr>
              <a:t>Continued monitoring, early screening programs, and preventive care are essential to further reduce the cardiovascular disease burden</a:t>
            </a:r>
          </a:p>
        </p:txBody>
      </p:sp>
      <p:sp>
        <p:nvSpPr>
          <p:cNvPr id="3" name="Google Shape;111;p4">
            <a:extLst>
              <a:ext uri="{FF2B5EF4-FFF2-40B4-BE49-F238E27FC236}">
                <a16:creationId xmlns:a16="http://schemas.microsoft.com/office/drawing/2014/main" id="{2C67FA29-31C5-7466-89A6-D9169C3B53D6}"/>
              </a:ext>
            </a:extLst>
          </p:cNvPr>
          <p:cNvSpPr txBox="1">
            <a:spLocks/>
          </p:cNvSpPr>
          <p:nvPr/>
        </p:nvSpPr>
        <p:spPr>
          <a:xfrm>
            <a:off x="701040" y="1595944"/>
            <a:ext cx="5201921" cy="395141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US" sz="2400" dirty="0">
                <a:latin typeface="Aptos Narrow" panose="020B0004020202020204" pitchFamily="34" charset="0"/>
              </a:rPr>
              <a:t>This EDA of heart disease surveillance data revealed important demographic and temporal patterns in U.S. cardiovascular health</a:t>
            </a:r>
          </a:p>
          <a:p>
            <a:pPr algn="just"/>
            <a:r>
              <a:rPr lang="en-US" sz="2400" dirty="0">
                <a:latin typeface="Aptos Narrow" panose="020B0004020202020204" pitchFamily="34" charset="0"/>
              </a:rPr>
              <a:t>Elderly populations and males face significantly higher heart disease risk across all disease categories</a:t>
            </a:r>
          </a:p>
          <a:p>
            <a:pPr algn="just"/>
            <a:r>
              <a:rPr lang="en-US" sz="2400" dirty="0">
                <a:latin typeface="Aptos Narrow" panose="020B0004020202020204" pitchFamily="34" charset="0"/>
              </a:rPr>
              <a:t>Non-Hispanic Black populations show the highest cardiovascular burden — a critical health equity issue requiring targeted intervention</a:t>
            </a:r>
          </a:p>
          <a:p>
            <a:pPr algn="just"/>
            <a:r>
              <a:rPr lang="en-US" sz="2400" dirty="0">
                <a:latin typeface="Aptos Narrow" panose="020B0004020202020204" pitchFamily="34" charset="0"/>
              </a:rPr>
              <a:t>Heart failure and Major Cardiovascular Disease contribute most to hospitalization and mortality rates</a:t>
            </a:r>
          </a:p>
        </p:txBody>
      </p:sp>
    </p:spTree>
    <p:extLst>
      <p:ext uri="{BB962C8B-B14F-4D97-AF65-F5344CB8AC3E}">
        <p14:creationId xmlns:p14="http://schemas.microsoft.com/office/powerpoint/2010/main" val="3790045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051559" y="3048000"/>
            <a:ext cx="4673926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5000" b="0" i="0" u="none" strike="noStrike" cap="none" dirty="0">
                <a:solidFill>
                  <a:srgbClr val="C00000"/>
                </a:solidFill>
                <a:latin typeface="Posterama" panose="020B0504020200020000" pitchFamily="34" charset="0"/>
                <a:ea typeface="Libre Baskerville"/>
                <a:cs typeface="Posterama" panose="020B0504020200020000" pitchFamily="34" charset="0"/>
                <a:sym typeface="Libre Baskerville"/>
              </a:rPr>
              <a:t>THANK YOU</a:t>
            </a:r>
            <a:endParaRPr sz="5000" b="0" i="0" u="none" strike="noStrike" cap="none" dirty="0">
              <a:solidFill>
                <a:schemeClr val="dk1"/>
              </a:solidFill>
              <a:latin typeface="Posterama" panose="020B0504020200020000" pitchFamily="34" charset="0"/>
              <a:ea typeface="Calibri"/>
              <a:cs typeface="Posterama" panose="020B0504020200020000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1968</Words>
  <Application>Microsoft Office PowerPoint</Application>
  <PresentationFormat>Widescreen</PresentationFormat>
  <Paragraphs>403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Lato Black</vt:lpstr>
      <vt:lpstr>Libre Baskerville</vt:lpstr>
      <vt:lpstr>Daytona Condensed Light</vt:lpstr>
      <vt:lpstr>Calibri</vt:lpstr>
      <vt:lpstr>Posterama</vt:lpstr>
      <vt:lpstr>Aptos Narrow</vt:lpstr>
      <vt:lpstr>Courier New</vt:lpstr>
      <vt:lpstr>Aptos Display</vt:lpstr>
      <vt:lpstr>Office Theme</vt:lpstr>
      <vt:lpstr>PowerPoint Presentation</vt:lpstr>
      <vt:lpstr>PowerPoint Presentation</vt:lpstr>
      <vt:lpstr>PowerPoint Presentation</vt:lpstr>
      <vt:lpstr>Agenda</vt:lpstr>
      <vt:lpstr>INTRODUCTION</vt:lpstr>
      <vt:lpstr>Why This Project?</vt:lpstr>
      <vt:lpstr>Dataset Information</vt:lpstr>
      <vt:lpstr>Dataset Information</vt:lpstr>
      <vt:lpstr>Understanding the Dataset</vt:lpstr>
      <vt:lpstr>Data Cleaning &amp; Preparation</vt:lpstr>
      <vt:lpstr>Data Cleaning &amp; Preparation</vt:lpstr>
      <vt:lpstr>EDA: Univariate Analysis</vt:lpstr>
      <vt:lpstr>EDA: Univariate Analysis</vt:lpstr>
      <vt:lpstr>EDA: Univariate Analysis</vt:lpstr>
      <vt:lpstr>EDA: Bivariate Analysis</vt:lpstr>
      <vt:lpstr>EDA: Bivariate Analysis</vt:lpstr>
      <vt:lpstr>EDA: Bivariate Analysis</vt:lpstr>
      <vt:lpstr>EDA: Bivariate Analysis</vt:lpstr>
      <vt:lpstr>EDA: Bivariate Analysis</vt:lpstr>
      <vt:lpstr>EDA: Multivariate Analysis</vt:lpstr>
      <vt:lpstr>EDA: Multivariate Analysis</vt:lpstr>
      <vt:lpstr>EDA: Multivariate Analysis</vt:lpstr>
      <vt:lpstr>EDA: Multivariate Analysis</vt:lpstr>
      <vt:lpstr>Pivot Table: Year vs Heart Disease Rate</vt:lpstr>
      <vt:lpstr>Pivot Table: Gender vs Heart Disease</vt:lpstr>
      <vt:lpstr>Pivot Table: Age Group vs Heart Disease</vt:lpstr>
      <vt:lpstr>Pivot Table: Race vs Heart Disease</vt:lpstr>
      <vt:lpstr>Pivot Table: Age Group vs Heart Disease</vt:lpstr>
      <vt:lpstr>Pivot Table: Topic vs Year Trend</vt:lpstr>
      <vt:lpstr>Pivot Table: Location vs Disease Rate</vt:lpstr>
      <vt:lpstr>Pivot Tables Insights</vt:lpstr>
      <vt:lpstr>Key 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Sushanth Bongarala</cp:lastModifiedBy>
  <cp:revision>6</cp:revision>
  <dcterms:created xsi:type="dcterms:W3CDTF">2021-02-16T05:19:01Z</dcterms:created>
  <dcterms:modified xsi:type="dcterms:W3CDTF">2026-02-27T09:03:10Z</dcterms:modified>
</cp:coreProperties>
</file>